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1" i="1">
                <a:solidFill>
                  <a:srgbClr val="D4993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rgbClr val="F9F8F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1" i="1">
                <a:solidFill>
                  <a:srgbClr val="D4993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400" b="1" i="0">
                <a:solidFill>
                  <a:srgbClr val="F9F8F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1" i="1">
                <a:solidFill>
                  <a:srgbClr val="D4993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50" b="1" i="1">
                <a:solidFill>
                  <a:srgbClr val="D4993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62A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9F8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489337"/>
            <a:ext cx="8107045" cy="520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50" b="1" i="1">
                <a:solidFill>
                  <a:srgbClr val="D49930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35592" y="2035175"/>
            <a:ext cx="6520815" cy="1614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1" i="0">
                <a:solidFill>
                  <a:srgbClr val="F9F8F4"/>
                </a:solidFill>
                <a:latin typeface="Cambria"/>
                <a:cs typeface="Cambri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466725" y="466724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0" y="361950"/>
                </a:moveTo>
                <a:lnTo>
                  <a:pt x="361950" y="361950"/>
                </a:lnTo>
                <a:lnTo>
                  <a:pt x="361950" y="0"/>
                </a:lnTo>
                <a:lnTo>
                  <a:pt x="0" y="0"/>
                </a:lnTo>
                <a:lnTo>
                  <a:pt x="0" y="361950"/>
                </a:lnTo>
                <a:close/>
              </a:path>
            </a:pathLst>
          </a:custGeom>
          <a:ln w="19050">
            <a:solidFill>
              <a:srgbClr val="D4993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92137" y="501650"/>
            <a:ext cx="1117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D49930"/>
                </a:solidFill>
                <a:latin typeface="Cambria"/>
                <a:cs typeface="Cambria"/>
              </a:rPr>
              <a:t>I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39800" y="555351"/>
            <a:ext cx="10052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35">
                <a:solidFill>
                  <a:srgbClr val="F9F8F4"/>
                </a:solidFill>
                <a:latin typeface="Times New Roman"/>
                <a:cs typeface="Times New Roman"/>
              </a:rPr>
              <a:t>I</a:t>
            </a:r>
            <a:r>
              <a:rPr dirty="0" sz="1000" spc="-65">
                <a:solidFill>
                  <a:srgbClr val="F9F8F4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9F8F4"/>
                </a:solidFill>
                <a:latin typeface="Times New Roman"/>
                <a:cs typeface="Times New Roman"/>
              </a:rPr>
              <a:t>N</a:t>
            </a:r>
            <a:r>
              <a:rPr dirty="0" sz="1000" spc="-95">
                <a:solidFill>
                  <a:srgbClr val="F9F8F4"/>
                </a:solidFill>
                <a:latin typeface="Times New Roman"/>
                <a:cs typeface="Times New Roman"/>
              </a:rPr>
              <a:t> </a:t>
            </a:r>
            <a:r>
              <a:rPr dirty="0" sz="1000" spc="150">
                <a:solidFill>
                  <a:srgbClr val="F9F8F4"/>
                </a:solidFill>
                <a:latin typeface="Times New Roman"/>
                <a:cs typeface="Times New Roman"/>
              </a:rPr>
              <a:t>SU</a:t>
            </a:r>
            <a:r>
              <a:rPr dirty="0" sz="1000" spc="-150">
                <a:solidFill>
                  <a:srgbClr val="F9F8F4"/>
                </a:solidFill>
                <a:latin typeface="Times New Roman"/>
                <a:cs typeface="Times New Roman"/>
              </a:rPr>
              <a:t> </a:t>
            </a:r>
            <a:r>
              <a:rPr dirty="0" sz="1000" spc="125">
                <a:solidFill>
                  <a:srgbClr val="F9F8F4"/>
                </a:solidFill>
                <a:latin typeface="Times New Roman"/>
                <a:cs typeface="Times New Roman"/>
              </a:rPr>
              <a:t>RM</a:t>
            </a:r>
            <a:r>
              <a:rPr dirty="0" sz="1000" spc="-135">
                <a:solidFill>
                  <a:srgbClr val="F9F8F4"/>
                </a:solidFill>
                <a:latin typeface="Times New Roman"/>
                <a:cs typeface="Times New Roman"/>
              </a:rPr>
              <a:t> I</a:t>
            </a:r>
            <a:r>
              <a:rPr dirty="0" sz="1000" spc="-65">
                <a:solidFill>
                  <a:srgbClr val="F9F8F4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9F8F4"/>
                </a:solidFill>
                <a:latin typeface="Times New Roman"/>
                <a:cs typeface="Times New Roman"/>
              </a:rPr>
              <a:t>N</a:t>
            </a:r>
            <a:r>
              <a:rPr dirty="0" sz="1000" spc="-95">
                <a:solidFill>
                  <a:srgbClr val="F9F8F4"/>
                </a:solidFill>
                <a:latin typeface="Times New Roman"/>
                <a:cs typeface="Times New Roman"/>
              </a:rPr>
              <a:t> </a:t>
            </a:r>
            <a:r>
              <a:rPr dirty="0" sz="1000" spc="125">
                <a:solidFill>
                  <a:srgbClr val="F9F8F4"/>
                </a:solidFill>
                <a:latin typeface="Times New Roman"/>
                <a:cs typeface="Times New Roman"/>
              </a:rPr>
              <a:t>DS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444500" y="1577130"/>
            <a:ext cx="3646170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117215" algn="l"/>
              </a:tabLst>
            </a:pPr>
            <a:r>
              <a:rPr dirty="0" sz="1400" spc="100">
                <a:solidFill>
                  <a:srgbClr val="D49930"/>
                </a:solidFill>
                <a:latin typeface="Times New Roman"/>
                <a:cs typeface="Times New Roman"/>
              </a:rPr>
              <a:t>M</a:t>
            </a:r>
            <a:r>
              <a:rPr dirty="0" sz="1400" spc="-95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400" spc="75">
                <a:solidFill>
                  <a:srgbClr val="D49930"/>
                </a:solidFill>
                <a:latin typeface="Times New Roman"/>
                <a:cs typeface="Times New Roman"/>
              </a:rPr>
              <a:t>E</a:t>
            </a:r>
            <a:r>
              <a:rPr dirty="0" sz="1400" spc="-55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400" spc="160">
                <a:solidFill>
                  <a:srgbClr val="D49930"/>
                </a:solidFill>
                <a:latin typeface="Times New Roman"/>
                <a:cs typeface="Times New Roman"/>
              </a:rPr>
              <a:t>S</a:t>
            </a:r>
            <a:r>
              <a:rPr dirty="0" sz="1400" spc="-70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400" spc="100">
                <a:solidFill>
                  <a:srgbClr val="D49930"/>
                </a:solidFill>
                <a:latin typeface="Times New Roman"/>
                <a:cs typeface="Times New Roman"/>
              </a:rPr>
              <a:t>A</a:t>
            </a:r>
            <a:r>
              <a:rPr dirty="0" sz="1400" spc="114">
                <a:solidFill>
                  <a:srgbClr val="D49930"/>
                </a:solidFill>
                <a:latin typeface="Times New Roman"/>
                <a:cs typeface="Times New Roman"/>
              </a:rPr>
              <a:t>  </a:t>
            </a:r>
            <a:r>
              <a:rPr dirty="0" sz="1400">
                <a:solidFill>
                  <a:srgbClr val="D49930"/>
                </a:solidFill>
                <a:latin typeface="Times New Roman"/>
                <a:cs typeface="Times New Roman"/>
              </a:rPr>
              <a:t>D</a:t>
            </a:r>
            <a:r>
              <a:rPr dirty="0" sz="1400" spc="-95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400" spc="75">
                <a:solidFill>
                  <a:srgbClr val="D49930"/>
                </a:solidFill>
                <a:latin typeface="Times New Roman"/>
                <a:cs typeface="Times New Roman"/>
              </a:rPr>
              <a:t>E</a:t>
            </a:r>
            <a:r>
              <a:rPr dirty="0" sz="1400" spc="135">
                <a:solidFill>
                  <a:srgbClr val="D49930"/>
                </a:solidFill>
                <a:latin typeface="Times New Roman"/>
                <a:cs typeface="Times New Roman"/>
              </a:rPr>
              <a:t>  </a:t>
            </a:r>
            <a:r>
              <a:rPr dirty="0" sz="1400" spc="160">
                <a:solidFill>
                  <a:srgbClr val="D49930"/>
                </a:solidFill>
                <a:latin typeface="Times New Roman"/>
                <a:cs typeface="Times New Roman"/>
              </a:rPr>
              <a:t>S</a:t>
            </a:r>
            <a:r>
              <a:rPr dirty="0" sz="1400" spc="-65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D49930"/>
                </a:solidFill>
                <a:latin typeface="Times New Roman"/>
                <a:cs typeface="Times New Roman"/>
              </a:rPr>
              <a:t>U</a:t>
            </a:r>
            <a:r>
              <a:rPr dirty="0" sz="1400" spc="-15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400" spc="65">
                <a:solidFill>
                  <a:srgbClr val="D49930"/>
                </a:solidFill>
                <a:latin typeface="Times New Roman"/>
                <a:cs typeface="Times New Roman"/>
              </a:rPr>
              <a:t>B</a:t>
            </a:r>
            <a:r>
              <a:rPr dirty="0" sz="1400" spc="-80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400" spc="160">
                <a:solidFill>
                  <a:srgbClr val="D49930"/>
                </a:solidFill>
                <a:latin typeface="Times New Roman"/>
                <a:cs typeface="Times New Roman"/>
              </a:rPr>
              <a:t>S</a:t>
            </a:r>
            <a:r>
              <a:rPr dirty="0" sz="1400" spc="-65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400" spc="195">
                <a:solidFill>
                  <a:srgbClr val="D49930"/>
                </a:solidFill>
                <a:latin typeface="Times New Roman"/>
                <a:cs typeface="Times New Roman"/>
              </a:rPr>
              <a:t>C</a:t>
            </a:r>
            <a:r>
              <a:rPr dirty="0" sz="1400" spc="-65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400" spc="80">
                <a:solidFill>
                  <a:srgbClr val="D49930"/>
                </a:solidFill>
                <a:latin typeface="Times New Roman"/>
                <a:cs typeface="Times New Roman"/>
              </a:rPr>
              <a:t>R</a:t>
            </a:r>
            <a:r>
              <a:rPr dirty="0" sz="1400" spc="-105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D49930"/>
                </a:solidFill>
                <a:latin typeface="Times New Roman"/>
                <a:cs typeface="Times New Roman"/>
              </a:rPr>
              <a:t>I</a:t>
            </a:r>
            <a:r>
              <a:rPr dirty="0" sz="1400" spc="75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400" spc="195">
                <a:solidFill>
                  <a:srgbClr val="D49930"/>
                </a:solidFill>
                <a:latin typeface="Times New Roman"/>
                <a:cs typeface="Times New Roman"/>
              </a:rPr>
              <a:t>Ç</a:t>
            </a:r>
            <a:r>
              <a:rPr dirty="0" sz="1400" spc="-65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400" spc="100">
                <a:solidFill>
                  <a:srgbClr val="D49930"/>
                </a:solidFill>
                <a:latin typeface="Times New Roman"/>
                <a:cs typeface="Times New Roman"/>
              </a:rPr>
              <a:t>Ã</a:t>
            </a:r>
            <a:r>
              <a:rPr dirty="0" sz="1400" spc="-160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400" spc="120">
                <a:solidFill>
                  <a:srgbClr val="D49930"/>
                </a:solidFill>
                <a:latin typeface="Times New Roman"/>
                <a:cs typeface="Times New Roman"/>
              </a:rPr>
              <a:t>O</a:t>
            </a:r>
            <a:r>
              <a:rPr dirty="0" sz="1400" spc="105">
                <a:solidFill>
                  <a:srgbClr val="D49930"/>
                </a:solidFill>
                <a:latin typeface="Times New Roman"/>
                <a:cs typeface="Times New Roman"/>
              </a:rPr>
              <a:t>  </a:t>
            </a:r>
            <a:r>
              <a:rPr dirty="0" sz="600" spc="130">
                <a:solidFill>
                  <a:srgbClr val="D49930"/>
                </a:solidFill>
                <a:latin typeface="Times New Roman"/>
                <a:cs typeface="Times New Roman"/>
              </a:rPr>
              <a:t>·</a:t>
            </a:r>
            <a:r>
              <a:rPr dirty="0" sz="600">
                <a:solidFill>
                  <a:srgbClr val="D49930"/>
                </a:solidFill>
                <a:latin typeface="Times New Roman"/>
                <a:cs typeface="Times New Roman"/>
              </a:rPr>
              <a:t>	</a:t>
            </a:r>
            <a:r>
              <a:rPr dirty="0" sz="1400" spc="100">
                <a:solidFill>
                  <a:srgbClr val="D49930"/>
                </a:solidFill>
                <a:latin typeface="Times New Roman"/>
                <a:cs typeface="Times New Roman"/>
              </a:rPr>
              <a:t>M</a:t>
            </a:r>
            <a:r>
              <a:rPr dirty="0" sz="1400" spc="-95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400" spc="100">
                <a:solidFill>
                  <a:srgbClr val="D49930"/>
                </a:solidFill>
                <a:latin typeface="Times New Roman"/>
                <a:cs typeface="Times New Roman"/>
              </a:rPr>
              <a:t>V</a:t>
            </a:r>
            <a:r>
              <a:rPr dirty="0" sz="1400" spc="-85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400" spc="105">
                <a:solidFill>
                  <a:srgbClr val="D49930"/>
                </a:solidFill>
                <a:latin typeface="Times New Roman"/>
                <a:cs typeface="Times New Roman"/>
              </a:rPr>
              <a:t>P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44500" y="2016125"/>
            <a:ext cx="8154034" cy="19183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7330"/>
              </a:lnSpc>
              <a:spcBef>
                <a:spcPts val="100"/>
              </a:spcBef>
            </a:pPr>
            <a:r>
              <a:rPr dirty="0" sz="6450" b="1">
                <a:solidFill>
                  <a:srgbClr val="F9F8F4"/>
                </a:solidFill>
                <a:latin typeface="Cambria"/>
                <a:cs typeface="Cambria"/>
              </a:rPr>
              <a:t>Análise</a:t>
            </a:r>
            <a:r>
              <a:rPr dirty="0" sz="6450" spc="-210" b="1">
                <a:solidFill>
                  <a:srgbClr val="F9F8F4"/>
                </a:solidFill>
                <a:latin typeface="Cambria"/>
                <a:cs typeface="Cambria"/>
              </a:rPr>
              <a:t> </a:t>
            </a:r>
            <a:r>
              <a:rPr dirty="0" sz="6450" spc="-25" b="1">
                <a:solidFill>
                  <a:srgbClr val="F9F8F4"/>
                </a:solidFill>
                <a:latin typeface="Cambria"/>
                <a:cs typeface="Cambria"/>
              </a:rPr>
              <a:t>Inteligente</a:t>
            </a:r>
            <a:r>
              <a:rPr dirty="0" sz="6450" spc="-204" b="1">
                <a:solidFill>
                  <a:srgbClr val="F9F8F4"/>
                </a:solidFill>
                <a:latin typeface="Cambria"/>
                <a:cs typeface="Cambria"/>
              </a:rPr>
              <a:t> </a:t>
            </a:r>
            <a:r>
              <a:rPr dirty="0" sz="6450" spc="-25" b="1">
                <a:solidFill>
                  <a:srgbClr val="F9F8F4"/>
                </a:solidFill>
                <a:latin typeface="Cambria"/>
                <a:cs typeface="Cambria"/>
              </a:rPr>
              <a:t>de</a:t>
            </a:r>
            <a:endParaRPr sz="6450">
              <a:latin typeface="Cambria"/>
              <a:cs typeface="Cambria"/>
            </a:endParaRPr>
          </a:p>
          <a:p>
            <a:pPr marL="12700">
              <a:lnSpc>
                <a:spcPts val="7575"/>
              </a:lnSpc>
            </a:pPr>
            <a:r>
              <a:rPr dirty="0" sz="6650" spc="45" b="1" i="1">
                <a:solidFill>
                  <a:srgbClr val="D49930"/>
                </a:solidFill>
                <a:latin typeface="Cambria"/>
                <a:cs typeface="Cambria"/>
              </a:rPr>
              <a:t>Apólices</a:t>
            </a:r>
            <a:r>
              <a:rPr dirty="0" sz="6650" spc="90" b="1" i="1">
                <a:solidFill>
                  <a:srgbClr val="D49930"/>
                </a:solidFill>
                <a:latin typeface="Cambria"/>
                <a:cs typeface="Cambria"/>
              </a:rPr>
              <a:t> </a:t>
            </a:r>
            <a:r>
              <a:rPr dirty="0" sz="6650" spc="665" b="1" i="1">
                <a:solidFill>
                  <a:srgbClr val="D49930"/>
                </a:solidFill>
                <a:latin typeface="Cambria"/>
                <a:cs typeface="Cambria"/>
              </a:rPr>
              <a:t>D&amp;O</a:t>
            </a:r>
            <a:endParaRPr sz="6650">
              <a:latin typeface="Cambria"/>
              <a:cs typeface="Cambri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57200" y="4171950"/>
            <a:ext cx="38100" cy="1114425"/>
          </a:xfrm>
          <a:custGeom>
            <a:avLst/>
            <a:gdLst/>
            <a:ahLst/>
            <a:cxnLst/>
            <a:rect l="l" t="t" r="r" b="b"/>
            <a:pathLst>
              <a:path w="38100" h="1114425">
                <a:moveTo>
                  <a:pt x="38100" y="0"/>
                </a:moveTo>
                <a:lnTo>
                  <a:pt x="0" y="0"/>
                </a:lnTo>
                <a:lnTo>
                  <a:pt x="0" y="1114425"/>
                </a:lnTo>
                <a:lnTo>
                  <a:pt x="38100" y="1114425"/>
                </a:lnTo>
                <a:lnTo>
                  <a:pt x="38100" y="0"/>
                </a:lnTo>
                <a:close/>
              </a:path>
            </a:pathLst>
          </a:custGeom>
          <a:solidFill>
            <a:srgbClr val="D49930">
              <a:alpha val="8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87400" y="4098961"/>
            <a:ext cx="5902325" cy="11398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9300"/>
              </a:lnSpc>
              <a:spcBef>
                <a:spcPts val="100"/>
              </a:spcBef>
            </a:pPr>
            <a:r>
              <a:rPr dirty="0" sz="1750" spc="150">
                <a:solidFill>
                  <a:srgbClr val="F9F8F4"/>
                </a:solidFill>
                <a:latin typeface="Times New Roman"/>
                <a:cs typeface="Times New Roman"/>
              </a:rPr>
              <a:t>Plataforma</a:t>
            </a:r>
            <a:r>
              <a:rPr dirty="0" sz="1750" spc="130">
                <a:solidFill>
                  <a:srgbClr val="F9F8F4"/>
                </a:solidFill>
                <a:latin typeface="Times New Roman"/>
                <a:cs typeface="Times New Roman"/>
              </a:rPr>
              <a:t> </a:t>
            </a:r>
            <a:r>
              <a:rPr dirty="0" sz="1750" spc="200">
                <a:solidFill>
                  <a:srgbClr val="F9F8F4"/>
                </a:solidFill>
                <a:latin typeface="Times New Roman"/>
                <a:cs typeface="Times New Roman"/>
              </a:rPr>
              <a:t>automatizada</a:t>
            </a:r>
            <a:r>
              <a:rPr dirty="0" sz="1750" spc="130">
                <a:solidFill>
                  <a:srgbClr val="F9F8F4"/>
                </a:solidFill>
                <a:latin typeface="Times New Roman"/>
                <a:cs typeface="Times New Roman"/>
              </a:rPr>
              <a:t> </a:t>
            </a:r>
            <a:r>
              <a:rPr dirty="0" sz="1750" spc="200">
                <a:solidFill>
                  <a:srgbClr val="F9F8F4"/>
                </a:solidFill>
                <a:latin typeface="Times New Roman"/>
                <a:cs typeface="Times New Roman"/>
              </a:rPr>
              <a:t>para</a:t>
            </a:r>
            <a:r>
              <a:rPr dirty="0" sz="1750" spc="130">
                <a:solidFill>
                  <a:srgbClr val="F9F8F4"/>
                </a:solidFill>
                <a:latin typeface="Times New Roman"/>
                <a:cs typeface="Times New Roman"/>
              </a:rPr>
              <a:t> </a:t>
            </a:r>
            <a:r>
              <a:rPr dirty="0" sz="1750" spc="175">
                <a:solidFill>
                  <a:srgbClr val="F9F8F4"/>
                </a:solidFill>
                <a:latin typeface="Times New Roman"/>
                <a:cs typeface="Times New Roman"/>
              </a:rPr>
              <a:t>extração</a:t>
            </a:r>
            <a:r>
              <a:rPr dirty="0" sz="1700" spc="175">
                <a:solidFill>
                  <a:srgbClr val="F9F8F4"/>
                </a:solidFill>
                <a:latin typeface="Times New Roman"/>
                <a:cs typeface="Times New Roman"/>
              </a:rPr>
              <a:t>,</a:t>
            </a:r>
            <a:r>
              <a:rPr dirty="0" sz="1700" spc="250">
                <a:solidFill>
                  <a:srgbClr val="F9F8F4"/>
                </a:solidFill>
                <a:latin typeface="Times New Roman"/>
                <a:cs typeface="Times New Roman"/>
              </a:rPr>
              <a:t> </a:t>
            </a:r>
            <a:r>
              <a:rPr dirty="0" sz="1750" spc="190">
                <a:solidFill>
                  <a:srgbClr val="F9F8F4"/>
                </a:solidFill>
                <a:latin typeface="Times New Roman"/>
                <a:cs typeface="Times New Roman"/>
              </a:rPr>
              <a:t>estruturação</a:t>
            </a:r>
            <a:r>
              <a:rPr dirty="0" sz="1750" spc="190">
                <a:solidFill>
                  <a:srgbClr val="F9F8F4"/>
                </a:solidFill>
                <a:latin typeface="Times New Roman"/>
                <a:cs typeface="Times New Roman"/>
              </a:rPr>
              <a:t> </a:t>
            </a:r>
            <a:r>
              <a:rPr dirty="0" sz="1750" spc="-465">
                <a:solidFill>
                  <a:srgbClr val="F9F8F4"/>
                </a:solidFill>
                <a:latin typeface="Times New Roman"/>
                <a:cs typeface="Times New Roman"/>
              </a:rPr>
              <a:t>e</a:t>
            </a:r>
            <a:r>
              <a:rPr dirty="0" sz="1750" spc="204">
                <a:solidFill>
                  <a:srgbClr val="F9F8F4"/>
                </a:solidFill>
                <a:latin typeface="Times New Roman"/>
                <a:cs typeface="Times New Roman"/>
              </a:rPr>
              <a:t> </a:t>
            </a:r>
            <a:r>
              <a:rPr dirty="0" sz="1750" spc="235">
                <a:solidFill>
                  <a:srgbClr val="F9F8F4"/>
                </a:solidFill>
                <a:latin typeface="Times New Roman"/>
                <a:cs typeface="Times New Roman"/>
              </a:rPr>
              <a:t>comparação</a:t>
            </a:r>
            <a:r>
              <a:rPr dirty="0" sz="1750" spc="80">
                <a:solidFill>
                  <a:srgbClr val="F9F8F4"/>
                </a:solidFill>
                <a:latin typeface="Times New Roman"/>
                <a:cs typeface="Times New Roman"/>
              </a:rPr>
              <a:t> </a:t>
            </a:r>
            <a:r>
              <a:rPr dirty="0" sz="1750" spc="285">
                <a:solidFill>
                  <a:srgbClr val="F9F8F4"/>
                </a:solidFill>
                <a:latin typeface="Times New Roman"/>
                <a:cs typeface="Times New Roman"/>
              </a:rPr>
              <a:t>de</a:t>
            </a:r>
            <a:r>
              <a:rPr dirty="0" sz="1750" spc="105">
                <a:solidFill>
                  <a:srgbClr val="F9F8F4"/>
                </a:solidFill>
                <a:latin typeface="Times New Roman"/>
                <a:cs typeface="Times New Roman"/>
              </a:rPr>
              <a:t> </a:t>
            </a:r>
            <a:r>
              <a:rPr dirty="0" sz="1750" spc="165">
                <a:solidFill>
                  <a:srgbClr val="F9F8F4"/>
                </a:solidFill>
                <a:latin typeface="Times New Roman"/>
                <a:cs typeface="Times New Roman"/>
              </a:rPr>
              <a:t>riscos</a:t>
            </a:r>
            <a:r>
              <a:rPr dirty="0" sz="1750" spc="145">
                <a:solidFill>
                  <a:srgbClr val="F9F8F4"/>
                </a:solidFill>
                <a:latin typeface="Times New Roman"/>
                <a:cs typeface="Times New Roman"/>
              </a:rPr>
              <a:t> </a:t>
            </a:r>
            <a:r>
              <a:rPr dirty="0" sz="1750" spc="170">
                <a:solidFill>
                  <a:srgbClr val="F9F8F4"/>
                </a:solidFill>
                <a:latin typeface="Times New Roman"/>
                <a:cs typeface="Times New Roman"/>
              </a:rPr>
              <a:t>executivos</a:t>
            </a:r>
            <a:r>
              <a:rPr dirty="0" sz="1750" spc="145">
                <a:solidFill>
                  <a:srgbClr val="F9F8F4"/>
                </a:solidFill>
                <a:latin typeface="Times New Roman"/>
                <a:cs typeface="Times New Roman"/>
              </a:rPr>
              <a:t> </a:t>
            </a:r>
            <a:r>
              <a:rPr dirty="0" sz="1750" spc="180">
                <a:solidFill>
                  <a:srgbClr val="F9F8F4"/>
                </a:solidFill>
                <a:latin typeface="Times New Roman"/>
                <a:cs typeface="Times New Roman"/>
              </a:rPr>
              <a:t>orientada</a:t>
            </a:r>
            <a:r>
              <a:rPr dirty="0" sz="1750" spc="130">
                <a:solidFill>
                  <a:srgbClr val="F9F8F4"/>
                </a:solidFill>
                <a:latin typeface="Times New Roman"/>
                <a:cs typeface="Times New Roman"/>
              </a:rPr>
              <a:t> </a:t>
            </a:r>
            <a:r>
              <a:rPr dirty="0" sz="1750" spc="145">
                <a:solidFill>
                  <a:srgbClr val="F9F8F4"/>
                </a:solidFill>
                <a:latin typeface="Times New Roman"/>
                <a:cs typeface="Times New Roman"/>
              </a:rPr>
              <a:t>por </a:t>
            </a:r>
            <a:r>
              <a:rPr dirty="0" sz="1750" spc="165">
                <a:solidFill>
                  <a:srgbClr val="F9F8F4"/>
                </a:solidFill>
                <a:latin typeface="Times New Roman"/>
                <a:cs typeface="Times New Roman"/>
              </a:rPr>
              <a:t>evidências</a:t>
            </a:r>
            <a:r>
              <a:rPr dirty="0" sz="1700" spc="165">
                <a:solidFill>
                  <a:srgbClr val="F9F8F4"/>
                </a:solidFill>
                <a:latin typeface="Times New Roman"/>
                <a:cs typeface="Times New Roman"/>
              </a:rPr>
              <a:t>.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6343650"/>
            <a:ext cx="12192000" cy="19050"/>
          </a:xfrm>
          <a:custGeom>
            <a:avLst/>
            <a:gdLst/>
            <a:ahLst/>
            <a:cxnLst/>
            <a:rect l="l" t="t" r="r" b="b"/>
            <a:pathLst>
              <a:path w="12192000" h="19050">
                <a:moveTo>
                  <a:pt x="12192000" y="0"/>
                </a:moveTo>
                <a:lnTo>
                  <a:pt x="0" y="0"/>
                </a:lnTo>
                <a:lnTo>
                  <a:pt x="0" y="19050"/>
                </a:lnTo>
                <a:lnTo>
                  <a:pt x="12192000" y="1905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499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44500" y="6477424"/>
            <a:ext cx="1240790" cy="18161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80">
                <a:solidFill>
                  <a:srgbClr val="F9F8F5"/>
                </a:solidFill>
                <a:latin typeface="Times New Roman"/>
                <a:cs typeface="Times New Roman"/>
              </a:rPr>
              <a:t>Projeto</a:t>
            </a:r>
            <a:r>
              <a:rPr dirty="0" sz="1000" spc="40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9F8F5"/>
                </a:solidFill>
                <a:latin typeface="Times New Roman"/>
                <a:cs typeface="Times New Roman"/>
              </a:rPr>
              <a:t>Final</a:t>
            </a:r>
            <a:r>
              <a:rPr dirty="0" sz="1000" spc="120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F9F8F5"/>
                </a:solidFill>
                <a:latin typeface="Times New Roman"/>
                <a:cs typeface="Times New Roman"/>
              </a:rPr>
              <a:t>·</a:t>
            </a:r>
            <a:r>
              <a:rPr dirty="0" sz="1000" spc="145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000" spc="140">
                <a:solidFill>
                  <a:srgbClr val="F9F8F5"/>
                </a:solidFill>
                <a:latin typeface="Times New Roman"/>
                <a:cs typeface="Times New Roman"/>
              </a:rPr>
              <a:t>2026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020845" y="6479901"/>
            <a:ext cx="17164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50">
                <a:solidFill>
                  <a:srgbClr val="F9F8F5"/>
                </a:solidFill>
                <a:latin typeface="Times New Roman"/>
                <a:cs typeface="Times New Roman"/>
              </a:rPr>
              <a:t>AU</a:t>
            </a:r>
            <a:r>
              <a:rPr dirty="0" sz="1000" spc="-155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000" spc="100">
                <a:solidFill>
                  <a:srgbClr val="F9F8F5"/>
                </a:solidFill>
                <a:latin typeface="Times New Roman"/>
                <a:cs typeface="Times New Roman"/>
              </a:rPr>
              <a:t>TO</a:t>
            </a:r>
            <a:r>
              <a:rPr dirty="0" sz="1000" spc="-140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9F8F5"/>
                </a:solidFill>
                <a:latin typeface="Times New Roman"/>
                <a:cs typeface="Times New Roman"/>
              </a:rPr>
              <a:t>RI</a:t>
            </a:r>
            <a:r>
              <a:rPr dirty="0" sz="1000" spc="-70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000" spc="114">
                <a:solidFill>
                  <a:srgbClr val="F9F8F5"/>
                </a:solidFill>
                <a:latin typeface="Times New Roman"/>
                <a:cs typeface="Times New Roman"/>
              </a:rPr>
              <a:t>A</a:t>
            </a:r>
            <a:r>
              <a:rPr dirty="0" sz="550" spc="114">
                <a:solidFill>
                  <a:srgbClr val="F9F8F5"/>
                </a:solidFill>
                <a:latin typeface="Times New Roman"/>
                <a:cs typeface="Times New Roman"/>
              </a:rPr>
              <a:t>:</a:t>
            </a:r>
            <a:r>
              <a:rPr dirty="0" sz="550" spc="420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000" spc="114">
                <a:solidFill>
                  <a:srgbClr val="F9F8F5"/>
                </a:solidFill>
                <a:latin typeface="Times New Roman"/>
                <a:cs typeface="Times New Roman"/>
              </a:rPr>
              <a:t>CU</a:t>
            </a:r>
            <a:r>
              <a:rPr dirty="0" sz="1000" spc="-150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9F8F5"/>
                </a:solidFill>
                <a:latin typeface="Times New Roman"/>
                <a:cs typeface="Times New Roman"/>
              </a:rPr>
              <a:t>RI</a:t>
            </a:r>
            <a:r>
              <a:rPr dirty="0" sz="1000" spc="-70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9F8F5"/>
                </a:solidFill>
                <a:latin typeface="Times New Roman"/>
                <a:cs typeface="Times New Roman"/>
              </a:rPr>
              <a:t>É</a:t>
            </a:r>
            <a:r>
              <a:rPr dirty="0" sz="1000" spc="250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000" spc="45">
                <a:solidFill>
                  <a:srgbClr val="F9F8F5"/>
                </a:solidFill>
                <a:latin typeface="Times New Roman"/>
                <a:cs typeface="Times New Roman"/>
              </a:rPr>
              <a:t>EDGE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150" spc="305" i="0">
                <a:solidFill>
                  <a:srgbClr val="162A3A"/>
                </a:solidFill>
                <a:latin typeface="Cambria"/>
                <a:cs typeface="Cambria"/>
              </a:rPr>
              <a:t>O</a:t>
            </a:r>
            <a:r>
              <a:rPr dirty="0" sz="3150" spc="5" i="0">
                <a:solidFill>
                  <a:srgbClr val="162A3A"/>
                </a:solidFill>
                <a:latin typeface="Cambria"/>
                <a:cs typeface="Cambria"/>
              </a:rPr>
              <a:t> </a:t>
            </a:r>
            <a:r>
              <a:rPr dirty="0" sz="3150" spc="200" i="0">
                <a:solidFill>
                  <a:srgbClr val="162A3A"/>
                </a:solidFill>
                <a:latin typeface="Cambria"/>
                <a:cs typeface="Cambria"/>
              </a:rPr>
              <a:t>Dєsafo</a:t>
            </a:r>
            <a:r>
              <a:rPr dirty="0" sz="3150" spc="60" i="0">
                <a:solidFill>
                  <a:srgbClr val="162A3A"/>
                </a:solidFill>
                <a:latin typeface="Cambria"/>
                <a:cs typeface="Cambria"/>
              </a:rPr>
              <a:t> </a:t>
            </a:r>
            <a:r>
              <a:rPr dirty="0" sz="3150" i="0">
                <a:solidFill>
                  <a:srgbClr val="162A3A"/>
                </a:solidFill>
                <a:latin typeface="Cambria"/>
                <a:cs typeface="Cambria"/>
              </a:rPr>
              <a:t>ka</a:t>
            </a:r>
            <a:r>
              <a:rPr dirty="0" sz="3150" spc="55" i="0">
                <a:solidFill>
                  <a:srgbClr val="162A3A"/>
                </a:solidFill>
                <a:latin typeface="Cambria"/>
                <a:cs typeface="Cambria"/>
              </a:rPr>
              <a:t> </a:t>
            </a:r>
            <a:r>
              <a:rPr dirty="0"/>
              <a:t>Comparação</a:t>
            </a:r>
            <a:r>
              <a:rPr dirty="0" spc="40"/>
              <a:t> </a:t>
            </a:r>
            <a:r>
              <a:rPr dirty="0" spc="-10"/>
              <a:t>Manual</a:t>
            </a:r>
            <a:endParaRPr sz="315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21950" y="463047"/>
            <a:ext cx="121094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180">
                <a:solidFill>
                  <a:srgbClr val="162A3A"/>
                </a:solidFill>
                <a:latin typeface="Times New Roman"/>
                <a:cs typeface="Times New Roman"/>
              </a:rPr>
              <a:t>PROBLE</a:t>
            </a:r>
            <a:r>
              <a:rPr dirty="0" sz="1400" spc="-17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400" spc="125">
                <a:solidFill>
                  <a:srgbClr val="162A3A"/>
                </a:solidFill>
                <a:latin typeface="Times New Roman"/>
                <a:cs typeface="Times New Roman"/>
              </a:rPr>
              <a:t>MA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1666875"/>
            <a:ext cx="3457575" cy="4733925"/>
            <a:chOff x="457200" y="1666875"/>
            <a:chExt cx="3457575" cy="4733925"/>
          </a:xfrm>
        </p:grpSpPr>
        <p:sp>
          <p:nvSpPr>
            <p:cNvPr id="5" name="object 5"/>
            <p:cNvSpPr/>
            <p:nvPr/>
          </p:nvSpPr>
          <p:spPr>
            <a:xfrm>
              <a:off x="457200" y="1666875"/>
              <a:ext cx="3457575" cy="4733925"/>
            </a:xfrm>
            <a:custGeom>
              <a:avLst/>
              <a:gdLst/>
              <a:ahLst/>
              <a:cxnLst/>
              <a:rect l="l" t="t" r="r" b="b"/>
              <a:pathLst>
                <a:path w="3457575" h="4733925">
                  <a:moveTo>
                    <a:pt x="3457575" y="0"/>
                  </a:moveTo>
                  <a:lnTo>
                    <a:pt x="0" y="0"/>
                  </a:lnTo>
                  <a:lnTo>
                    <a:pt x="0" y="4733925"/>
                  </a:lnTo>
                  <a:lnTo>
                    <a:pt x="3457575" y="4733925"/>
                  </a:lnTo>
                  <a:lnTo>
                    <a:pt x="3457575" y="0"/>
                  </a:lnTo>
                  <a:close/>
                </a:path>
              </a:pathLst>
            </a:custGeom>
            <a:solidFill>
              <a:srgbClr val="F0EF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61962" y="1671637"/>
              <a:ext cx="3448050" cy="4724400"/>
            </a:xfrm>
            <a:custGeom>
              <a:avLst/>
              <a:gdLst/>
              <a:ahLst/>
              <a:cxnLst/>
              <a:rect l="l" t="t" r="r" b="b"/>
              <a:pathLst>
                <a:path w="3448050" h="4724400">
                  <a:moveTo>
                    <a:pt x="0" y="4724400"/>
                  </a:moveTo>
                  <a:lnTo>
                    <a:pt x="3448050" y="4724400"/>
                  </a:lnTo>
                  <a:lnTo>
                    <a:pt x="3448050" y="0"/>
                  </a:lnTo>
                  <a:lnTo>
                    <a:pt x="0" y="0"/>
                  </a:lnTo>
                  <a:lnTo>
                    <a:pt x="0" y="4724400"/>
                  </a:lnTo>
                  <a:close/>
                </a:path>
              </a:pathLst>
            </a:custGeom>
            <a:ln w="9525">
              <a:solidFill>
                <a:srgbClr val="162A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58825" y="1956166"/>
            <a:ext cx="483870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105">
                <a:solidFill>
                  <a:srgbClr val="D49930"/>
                </a:solidFill>
                <a:latin typeface="Times New Roman"/>
                <a:cs typeface="Times New Roman"/>
              </a:rPr>
              <a:t>01.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8825" y="2581614"/>
            <a:ext cx="2706370" cy="2959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175">
                <a:solidFill>
                  <a:srgbClr val="162A3A"/>
                </a:solidFill>
                <a:latin typeface="Times New Roman"/>
                <a:cs typeface="Times New Roman"/>
              </a:rPr>
              <a:t>Volume</a:t>
            </a:r>
            <a:r>
              <a:rPr dirty="0" sz="1750" spc="-1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750" spc="370">
                <a:solidFill>
                  <a:srgbClr val="162A3A"/>
                </a:solidFill>
                <a:latin typeface="Times New Roman"/>
                <a:cs typeface="Times New Roman"/>
              </a:rPr>
              <a:t>e</a:t>
            </a:r>
            <a:r>
              <a:rPr dirty="0" sz="1750" spc="-1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750" spc="165">
                <a:solidFill>
                  <a:srgbClr val="162A3A"/>
                </a:solidFill>
                <a:latin typeface="Times New Roman"/>
                <a:cs typeface="Times New Roman"/>
              </a:rPr>
              <a:t>Complexidade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8825" y="2992464"/>
            <a:ext cx="2842260" cy="14160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75">
                <a:solidFill>
                  <a:srgbClr val="2C3E4F"/>
                </a:solidFill>
                <a:latin typeface="Times New Roman"/>
                <a:cs typeface="Times New Roman"/>
              </a:rPr>
              <a:t>Apólices</a:t>
            </a:r>
            <a:r>
              <a:rPr dirty="0" sz="1300" spc="11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2C3E4F"/>
                </a:solidFill>
                <a:latin typeface="Times New Roman"/>
                <a:cs typeface="Times New Roman"/>
              </a:rPr>
              <a:t>D</a:t>
            </a:r>
            <a:r>
              <a:rPr dirty="0" sz="1250">
                <a:solidFill>
                  <a:srgbClr val="2C3E4F"/>
                </a:solidFill>
                <a:latin typeface="Times New Roman"/>
                <a:cs typeface="Times New Roman"/>
              </a:rPr>
              <a:t>&amp;</a:t>
            </a:r>
            <a:r>
              <a:rPr dirty="0" sz="1300">
                <a:solidFill>
                  <a:srgbClr val="2C3E4F"/>
                </a:solidFill>
                <a:latin typeface="Times New Roman"/>
                <a:cs typeface="Times New Roman"/>
              </a:rPr>
              <a:t>O</a:t>
            </a:r>
            <a:r>
              <a:rPr dirty="0" sz="1300" spc="7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65">
                <a:solidFill>
                  <a:srgbClr val="2C3E4F"/>
                </a:solidFill>
                <a:latin typeface="Times New Roman"/>
                <a:cs typeface="Times New Roman"/>
              </a:rPr>
              <a:t>são</a:t>
            </a:r>
            <a:r>
              <a:rPr dirty="0" sz="1300" spc="8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55">
                <a:solidFill>
                  <a:srgbClr val="2C3E4F"/>
                </a:solidFill>
                <a:latin typeface="Times New Roman"/>
                <a:cs typeface="Times New Roman"/>
              </a:rPr>
              <a:t>documentos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150">
                <a:solidFill>
                  <a:srgbClr val="2C3E4F"/>
                </a:solidFill>
                <a:latin typeface="Times New Roman"/>
                <a:cs typeface="Times New Roman"/>
              </a:rPr>
              <a:t>extensos</a:t>
            </a:r>
            <a:r>
              <a:rPr dirty="0" sz="1250" spc="150">
                <a:solidFill>
                  <a:srgbClr val="2C3E4F"/>
                </a:solidFill>
                <a:latin typeface="Times New Roman"/>
                <a:cs typeface="Times New Roman"/>
              </a:rPr>
              <a:t>,</a:t>
            </a:r>
            <a:r>
              <a:rPr dirty="0" sz="1250" spc="15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10">
                <a:solidFill>
                  <a:srgbClr val="2C3E4F"/>
                </a:solidFill>
                <a:latin typeface="Times New Roman"/>
                <a:cs typeface="Times New Roman"/>
              </a:rPr>
              <a:t>redigidos</a:t>
            </a:r>
            <a:r>
              <a:rPr dirty="0" sz="1300" spc="114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75">
                <a:solidFill>
                  <a:srgbClr val="2C3E4F"/>
                </a:solidFill>
                <a:latin typeface="Times New Roman"/>
                <a:cs typeface="Times New Roman"/>
              </a:rPr>
              <a:t>em</a:t>
            </a:r>
            <a:r>
              <a:rPr dirty="0" sz="1300" spc="9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2C3E4F"/>
                </a:solidFill>
                <a:latin typeface="Times New Roman"/>
                <a:cs typeface="Times New Roman"/>
              </a:rPr>
              <a:t>linguagem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50">
                <a:solidFill>
                  <a:srgbClr val="2C3E4F"/>
                </a:solidFill>
                <a:latin typeface="Times New Roman"/>
                <a:cs typeface="Times New Roman"/>
              </a:rPr>
              <a:t>jurídica</a:t>
            </a:r>
            <a:r>
              <a:rPr dirty="0" sz="1300" spc="9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35">
                <a:solidFill>
                  <a:srgbClr val="2C3E4F"/>
                </a:solidFill>
                <a:latin typeface="Times New Roman"/>
                <a:cs typeface="Times New Roman"/>
              </a:rPr>
              <a:t>densa</a:t>
            </a:r>
            <a:r>
              <a:rPr dirty="0" sz="1250" spc="135">
                <a:solidFill>
                  <a:srgbClr val="2C3E4F"/>
                </a:solidFill>
                <a:latin typeface="Times New Roman"/>
                <a:cs typeface="Times New Roman"/>
              </a:rPr>
              <a:t>,</a:t>
            </a:r>
            <a:r>
              <a:rPr dirty="0" sz="1250" spc="14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2C3E4F"/>
                </a:solidFill>
                <a:latin typeface="Times New Roman"/>
                <a:cs typeface="Times New Roman"/>
              </a:rPr>
              <a:t>exigindo</a:t>
            </a:r>
            <a:r>
              <a:rPr dirty="0" sz="1300" spc="7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30">
                <a:solidFill>
                  <a:srgbClr val="2C3E4F"/>
                </a:solidFill>
                <a:latin typeface="Times New Roman"/>
                <a:cs typeface="Times New Roman"/>
              </a:rPr>
              <a:t>horas</a:t>
            </a:r>
            <a:r>
              <a:rPr dirty="0" sz="1300" spc="10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2C3E4F"/>
                </a:solidFill>
                <a:latin typeface="Times New Roman"/>
                <a:cs typeface="Times New Roman"/>
              </a:rPr>
              <a:t>de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90">
                <a:solidFill>
                  <a:srgbClr val="2C3E4F"/>
                </a:solidFill>
                <a:latin typeface="Times New Roman"/>
                <a:cs typeface="Times New Roman"/>
              </a:rPr>
              <a:t>análise</a:t>
            </a:r>
            <a:r>
              <a:rPr dirty="0" sz="1300" spc="9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20">
                <a:solidFill>
                  <a:srgbClr val="2C3E4F"/>
                </a:solidFill>
                <a:latin typeface="Times New Roman"/>
                <a:cs typeface="Times New Roman"/>
              </a:rPr>
              <a:t>por</a:t>
            </a:r>
            <a:r>
              <a:rPr dirty="0" sz="1300" spc="6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2C3E4F"/>
                </a:solidFill>
                <a:latin typeface="Times New Roman"/>
                <a:cs typeface="Times New Roman"/>
              </a:rPr>
              <a:t>especialistas</a:t>
            </a:r>
            <a:r>
              <a:rPr dirty="0" sz="1300" spc="11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60">
                <a:solidFill>
                  <a:srgbClr val="2C3E4F"/>
                </a:solidFill>
                <a:latin typeface="Times New Roman"/>
                <a:cs typeface="Times New Roman"/>
              </a:rPr>
              <a:t>para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95">
                <a:solidFill>
                  <a:srgbClr val="2C3E4F"/>
                </a:solidFill>
                <a:latin typeface="Times New Roman"/>
                <a:cs typeface="Times New Roman"/>
              </a:rPr>
              <a:t>cada contrato</a:t>
            </a:r>
            <a:r>
              <a:rPr dirty="0" sz="1250" spc="95">
                <a:solidFill>
                  <a:srgbClr val="2C3E4F"/>
                </a:solidFill>
                <a:latin typeface="Times New Roman"/>
                <a:cs typeface="Times New Roman"/>
              </a:rPr>
              <a:t>.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371975" y="1666875"/>
            <a:ext cx="3448050" cy="4733925"/>
            <a:chOff x="4371975" y="1666875"/>
            <a:chExt cx="3448050" cy="4733925"/>
          </a:xfrm>
        </p:grpSpPr>
        <p:sp>
          <p:nvSpPr>
            <p:cNvPr id="11" name="object 11"/>
            <p:cNvSpPr/>
            <p:nvPr/>
          </p:nvSpPr>
          <p:spPr>
            <a:xfrm>
              <a:off x="4371975" y="1666875"/>
              <a:ext cx="3448050" cy="4733925"/>
            </a:xfrm>
            <a:custGeom>
              <a:avLst/>
              <a:gdLst/>
              <a:ahLst/>
              <a:cxnLst/>
              <a:rect l="l" t="t" r="r" b="b"/>
              <a:pathLst>
                <a:path w="3448050" h="4733925">
                  <a:moveTo>
                    <a:pt x="3448050" y="0"/>
                  </a:moveTo>
                  <a:lnTo>
                    <a:pt x="0" y="0"/>
                  </a:lnTo>
                  <a:lnTo>
                    <a:pt x="0" y="4733925"/>
                  </a:lnTo>
                  <a:lnTo>
                    <a:pt x="3448050" y="4733925"/>
                  </a:lnTo>
                  <a:lnTo>
                    <a:pt x="3448050" y="0"/>
                  </a:lnTo>
                  <a:close/>
                </a:path>
              </a:pathLst>
            </a:custGeom>
            <a:solidFill>
              <a:srgbClr val="F0EF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376737" y="1671637"/>
              <a:ext cx="3438525" cy="4724400"/>
            </a:xfrm>
            <a:custGeom>
              <a:avLst/>
              <a:gdLst/>
              <a:ahLst/>
              <a:cxnLst/>
              <a:rect l="l" t="t" r="r" b="b"/>
              <a:pathLst>
                <a:path w="3438525" h="4724400">
                  <a:moveTo>
                    <a:pt x="0" y="4724400"/>
                  </a:moveTo>
                  <a:lnTo>
                    <a:pt x="3438525" y="4724400"/>
                  </a:lnTo>
                  <a:lnTo>
                    <a:pt x="3438525" y="0"/>
                  </a:lnTo>
                  <a:lnTo>
                    <a:pt x="0" y="0"/>
                  </a:lnTo>
                  <a:lnTo>
                    <a:pt x="0" y="4724400"/>
                  </a:lnTo>
                  <a:close/>
                </a:path>
              </a:pathLst>
            </a:custGeom>
            <a:ln w="9525">
              <a:solidFill>
                <a:srgbClr val="162A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670475" y="1956166"/>
            <a:ext cx="550545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275">
                <a:solidFill>
                  <a:srgbClr val="D49930"/>
                </a:solidFill>
                <a:latin typeface="Times New Roman"/>
                <a:cs typeface="Times New Roman"/>
              </a:rPr>
              <a:t>02.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70475" y="2546917"/>
            <a:ext cx="2105025" cy="635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50" spc="200">
                <a:solidFill>
                  <a:srgbClr val="162A3A"/>
                </a:solidFill>
                <a:latin typeface="Times New Roman"/>
                <a:cs typeface="Times New Roman"/>
              </a:rPr>
              <a:t>Inconsistência</a:t>
            </a:r>
            <a:r>
              <a:rPr dirty="0" sz="1750" spc="8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750" spc="175">
                <a:solidFill>
                  <a:srgbClr val="162A3A"/>
                </a:solidFill>
                <a:latin typeface="Times New Roman"/>
                <a:cs typeface="Times New Roman"/>
              </a:rPr>
              <a:t>no</a:t>
            </a:r>
            <a:r>
              <a:rPr dirty="0" sz="1750" spc="175">
                <a:solidFill>
                  <a:srgbClr val="162A3A"/>
                </a:solidFill>
                <a:latin typeface="Times New Roman"/>
                <a:cs typeface="Times New Roman"/>
              </a:rPr>
              <a:t>s</a:t>
            </a:r>
            <a:endParaRPr sz="1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750" spc="195">
                <a:solidFill>
                  <a:srgbClr val="162A3A"/>
                </a:solidFill>
                <a:latin typeface="Times New Roman"/>
                <a:cs typeface="Times New Roman"/>
              </a:rPr>
              <a:t>Dados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70475" y="3297264"/>
            <a:ext cx="2583180" cy="113982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41800"/>
              </a:lnSpc>
              <a:spcBef>
                <a:spcPts val="60"/>
              </a:spcBef>
            </a:pPr>
            <a:r>
              <a:rPr dirty="0" sz="1300">
                <a:solidFill>
                  <a:srgbClr val="2C3E4F"/>
                </a:solidFill>
                <a:latin typeface="Times New Roman"/>
                <a:cs typeface="Times New Roman"/>
              </a:rPr>
              <a:t>A</a:t>
            </a:r>
            <a:r>
              <a:rPr dirty="0" sz="1300" spc="-2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00">
                <a:solidFill>
                  <a:srgbClr val="2C3E4F"/>
                </a:solidFill>
                <a:latin typeface="Times New Roman"/>
                <a:cs typeface="Times New Roman"/>
              </a:rPr>
              <a:t>extração</a:t>
            </a:r>
            <a:r>
              <a:rPr dirty="0" sz="1300" spc="8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00">
                <a:solidFill>
                  <a:srgbClr val="2C3E4F"/>
                </a:solidFill>
                <a:latin typeface="Times New Roman"/>
                <a:cs typeface="Times New Roman"/>
              </a:rPr>
              <a:t>manual</a:t>
            </a:r>
            <a:r>
              <a:rPr dirty="0" sz="1300" spc="13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40">
                <a:solidFill>
                  <a:srgbClr val="2C3E4F"/>
                </a:solidFill>
                <a:latin typeface="Times New Roman"/>
                <a:cs typeface="Times New Roman"/>
              </a:rPr>
              <a:t>de</a:t>
            </a:r>
            <a:r>
              <a:rPr dirty="0" sz="1300" spc="10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70">
                <a:solidFill>
                  <a:srgbClr val="2C3E4F"/>
                </a:solidFill>
                <a:latin typeface="Times New Roman"/>
                <a:cs typeface="Times New Roman"/>
              </a:rPr>
              <a:t>limites</a:t>
            </a:r>
            <a:r>
              <a:rPr dirty="0" sz="1250" spc="70">
                <a:solidFill>
                  <a:srgbClr val="2C3E4F"/>
                </a:solidFill>
                <a:latin typeface="Times New Roman"/>
                <a:cs typeface="Times New Roman"/>
              </a:rPr>
              <a:t>, </a:t>
            </a:r>
            <a:r>
              <a:rPr dirty="0" sz="1300" spc="100">
                <a:solidFill>
                  <a:srgbClr val="2C3E4F"/>
                </a:solidFill>
                <a:latin typeface="Times New Roman"/>
                <a:cs typeface="Times New Roman"/>
              </a:rPr>
              <a:t>franquias </a:t>
            </a:r>
            <a:r>
              <a:rPr dirty="0" sz="1300" spc="114">
                <a:solidFill>
                  <a:srgbClr val="2C3E4F"/>
                </a:solidFill>
                <a:latin typeface="Times New Roman"/>
                <a:cs typeface="Times New Roman"/>
              </a:rPr>
              <a:t>e</a:t>
            </a:r>
            <a:r>
              <a:rPr dirty="0" sz="1300" spc="9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40">
                <a:solidFill>
                  <a:srgbClr val="2C3E4F"/>
                </a:solidFill>
                <a:latin typeface="Times New Roman"/>
                <a:cs typeface="Times New Roman"/>
              </a:rPr>
              <a:t>exclusões</a:t>
            </a:r>
            <a:r>
              <a:rPr dirty="0" sz="1300" spc="10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2C3E4F"/>
                </a:solidFill>
                <a:latin typeface="Times New Roman"/>
                <a:cs typeface="Times New Roman"/>
              </a:rPr>
              <a:t>é</a:t>
            </a:r>
            <a:r>
              <a:rPr dirty="0" sz="1300" spc="90">
                <a:solidFill>
                  <a:srgbClr val="2C3E4F"/>
                </a:solidFill>
                <a:latin typeface="Times New Roman"/>
                <a:cs typeface="Times New Roman"/>
              </a:rPr>
              <a:t> lenta</a:t>
            </a:r>
            <a:r>
              <a:rPr dirty="0" sz="1300" spc="9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65">
                <a:solidFill>
                  <a:srgbClr val="2C3E4F"/>
                </a:solidFill>
                <a:latin typeface="Times New Roman"/>
                <a:cs typeface="Times New Roman"/>
              </a:rPr>
              <a:t>e </a:t>
            </a:r>
            <a:r>
              <a:rPr dirty="0" sz="1300" spc="114">
                <a:solidFill>
                  <a:srgbClr val="2C3E4F"/>
                </a:solidFill>
                <a:latin typeface="Times New Roman"/>
                <a:cs typeface="Times New Roman"/>
              </a:rPr>
              <a:t>altamente</a:t>
            </a:r>
            <a:r>
              <a:rPr dirty="0" sz="1300" spc="10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2C3E4F"/>
                </a:solidFill>
                <a:latin typeface="Times New Roman"/>
                <a:cs typeface="Times New Roman"/>
              </a:rPr>
              <a:t>suscetível</a:t>
            </a:r>
            <a:r>
              <a:rPr dirty="0" sz="1300" spc="14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50">
                <a:solidFill>
                  <a:srgbClr val="2C3E4F"/>
                </a:solidFill>
                <a:latin typeface="Times New Roman"/>
                <a:cs typeface="Times New Roman"/>
              </a:rPr>
              <a:t>a</a:t>
            </a:r>
            <a:r>
              <a:rPr dirty="0" sz="1300" spc="10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95">
                <a:solidFill>
                  <a:srgbClr val="2C3E4F"/>
                </a:solidFill>
                <a:latin typeface="Times New Roman"/>
                <a:cs typeface="Times New Roman"/>
              </a:rPr>
              <a:t>erros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170">
                <a:solidFill>
                  <a:srgbClr val="2C3E4F"/>
                </a:solidFill>
                <a:latin typeface="Times New Roman"/>
                <a:cs typeface="Times New Roman"/>
              </a:rPr>
              <a:t>humanos</a:t>
            </a:r>
            <a:r>
              <a:rPr dirty="0" sz="1300" spc="10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2C3E4F"/>
                </a:solidFill>
                <a:latin typeface="Times New Roman"/>
                <a:cs typeface="Times New Roman"/>
              </a:rPr>
              <a:t>e</a:t>
            </a:r>
            <a:r>
              <a:rPr dirty="0" sz="1300" spc="10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75">
                <a:solidFill>
                  <a:srgbClr val="2C3E4F"/>
                </a:solidFill>
                <a:latin typeface="Times New Roman"/>
                <a:cs typeface="Times New Roman"/>
              </a:rPr>
              <a:t>omissões</a:t>
            </a:r>
            <a:r>
              <a:rPr dirty="0" sz="1300" spc="11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55">
                <a:solidFill>
                  <a:srgbClr val="2C3E4F"/>
                </a:solidFill>
                <a:latin typeface="Times New Roman"/>
                <a:cs typeface="Times New Roman"/>
              </a:rPr>
              <a:t>críticas</a:t>
            </a:r>
            <a:r>
              <a:rPr dirty="0" sz="1250" spc="55">
                <a:solidFill>
                  <a:srgbClr val="2C3E4F"/>
                </a:solidFill>
                <a:latin typeface="Times New Roman"/>
                <a:cs typeface="Times New Roman"/>
              </a:rPr>
              <a:t>.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277225" y="1666875"/>
            <a:ext cx="3457575" cy="4733925"/>
            <a:chOff x="8277225" y="1666875"/>
            <a:chExt cx="3457575" cy="4733925"/>
          </a:xfrm>
        </p:grpSpPr>
        <p:sp>
          <p:nvSpPr>
            <p:cNvPr id="17" name="object 17"/>
            <p:cNvSpPr/>
            <p:nvPr/>
          </p:nvSpPr>
          <p:spPr>
            <a:xfrm>
              <a:off x="8277225" y="1666875"/>
              <a:ext cx="3457575" cy="4733925"/>
            </a:xfrm>
            <a:custGeom>
              <a:avLst/>
              <a:gdLst/>
              <a:ahLst/>
              <a:cxnLst/>
              <a:rect l="l" t="t" r="r" b="b"/>
              <a:pathLst>
                <a:path w="3457575" h="4733925">
                  <a:moveTo>
                    <a:pt x="3457575" y="0"/>
                  </a:moveTo>
                  <a:lnTo>
                    <a:pt x="0" y="0"/>
                  </a:lnTo>
                  <a:lnTo>
                    <a:pt x="0" y="4733925"/>
                  </a:lnTo>
                  <a:lnTo>
                    <a:pt x="3457575" y="4733925"/>
                  </a:lnTo>
                  <a:lnTo>
                    <a:pt x="3457575" y="0"/>
                  </a:lnTo>
                  <a:close/>
                </a:path>
              </a:pathLst>
            </a:custGeom>
            <a:solidFill>
              <a:srgbClr val="F0EF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281987" y="1671637"/>
              <a:ext cx="3448050" cy="4724400"/>
            </a:xfrm>
            <a:custGeom>
              <a:avLst/>
              <a:gdLst/>
              <a:ahLst/>
              <a:cxnLst/>
              <a:rect l="l" t="t" r="r" b="b"/>
              <a:pathLst>
                <a:path w="3448050" h="4724400">
                  <a:moveTo>
                    <a:pt x="0" y="4724400"/>
                  </a:moveTo>
                  <a:lnTo>
                    <a:pt x="3448050" y="4724400"/>
                  </a:lnTo>
                  <a:lnTo>
                    <a:pt x="3448050" y="0"/>
                  </a:lnTo>
                  <a:lnTo>
                    <a:pt x="0" y="0"/>
                  </a:lnTo>
                  <a:lnTo>
                    <a:pt x="0" y="4724400"/>
                  </a:lnTo>
                  <a:close/>
                </a:path>
              </a:pathLst>
            </a:custGeom>
            <a:ln w="9525">
              <a:solidFill>
                <a:srgbClr val="162A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8582126" y="1956166"/>
            <a:ext cx="550545" cy="41783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550" spc="280">
                <a:solidFill>
                  <a:srgbClr val="D49930"/>
                </a:solidFill>
                <a:latin typeface="Times New Roman"/>
                <a:cs typeface="Times New Roman"/>
              </a:rPr>
              <a:t>03.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82126" y="2581614"/>
            <a:ext cx="2348230" cy="2959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245">
                <a:solidFill>
                  <a:srgbClr val="162A3A"/>
                </a:solidFill>
                <a:latin typeface="Times New Roman"/>
                <a:cs typeface="Times New Roman"/>
              </a:rPr>
              <a:t>Lacunas</a:t>
            </a:r>
            <a:r>
              <a:rPr dirty="0" sz="1750" spc="-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750" spc="310">
                <a:solidFill>
                  <a:srgbClr val="162A3A"/>
                </a:solidFill>
                <a:latin typeface="Times New Roman"/>
                <a:cs typeface="Times New Roman"/>
              </a:rPr>
              <a:t>de</a:t>
            </a:r>
            <a:r>
              <a:rPr dirty="0" sz="1750" spc="-1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750" spc="170">
                <a:solidFill>
                  <a:srgbClr val="162A3A"/>
                </a:solidFill>
                <a:latin typeface="Times New Roman"/>
                <a:cs typeface="Times New Roman"/>
              </a:rPr>
              <a:t>Proteção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82126" y="2992464"/>
            <a:ext cx="2839085" cy="113982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75">
                <a:solidFill>
                  <a:srgbClr val="2C3E4F"/>
                </a:solidFill>
                <a:latin typeface="Times New Roman"/>
                <a:cs typeface="Times New Roman"/>
              </a:rPr>
              <a:t>Diferenças</a:t>
            </a:r>
            <a:r>
              <a:rPr dirty="0" sz="1300" spc="11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50">
                <a:solidFill>
                  <a:srgbClr val="2C3E4F"/>
                </a:solidFill>
                <a:latin typeface="Times New Roman"/>
                <a:cs typeface="Times New Roman"/>
              </a:rPr>
              <a:t>sutis</a:t>
            </a:r>
            <a:r>
              <a:rPr dirty="0" sz="1300" spc="11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75">
                <a:solidFill>
                  <a:srgbClr val="2C3E4F"/>
                </a:solidFill>
                <a:latin typeface="Times New Roman"/>
                <a:cs typeface="Times New Roman"/>
              </a:rPr>
              <a:t>em</a:t>
            </a:r>
            <a:r>
              <a:rPr dirty="0" sz="1300" spc="8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10">
                <a:solidFill>
                  <a:srgbClr val="2C3E4F"/>
                </a:solidFill>
                <a:latin typeface="Times New Roman"/>
                <a:cs typeface="Times New Roman"/>
              </a:rPr>
              <a:t>cláusulas </a:t>
            </a:r>
            <a:r>
              <a:rPr dirty="0" sz="1300" spc="114">
                <a:solidFill>
                  <a:srgbClr val="2C3E4F"/>
                </a:solidFill>
                <a:latin typeface="Times New Roman"/>
                <a:cs typeface="Times New Roman"/>
              </a:rPr>
              <a:t>de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120">
                <a:solidFill>
                  <a:srgbClr val="2C3E4F"/>
                </a:solidFill>
                <a:latin typeface="Times New Roman"/>
                <a:cs typeface="Times New Roman"/>
              </a:rPr>
              <a:t>exclusão</a:t>
            </a:r>
            <a:r>
              <a:rPr dirty="0" sz="1300" spc="7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70">
                <a:solidFill>
                  <a:srgbClr val="2C3E4F"/>
                </a:solidFill>
                <a:latin typeface="Times New Roman"/>
                <a:cs typeface="Times New Roman"/>
              </a:rPr>
              <a:t>podem</a:t>
            </a:r>
            <a:r>
              <a:rPr dirty="0" sz="1300" spc="8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70">
                <a:solidFill>
                  <a:srgbClr val="2C3E4F"/>
                </a:solidFill>
                <a:latin typeface="Times New Roman"/>
                <a:cs typeface="Times New Roman"/>
              </a:rPr>
              <a:t>deixar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120">
                <a:solidFill>
                  <a:srgbClr val="2C3E4F"/>
                </a:solidFill>
                <a:latin typeface="Times New Roman"/>
                <a:cs typeface="Times New Roman"/>
              </a:rPr>
              <a:t>administradores</a:t>
            </a:r>
            <a:r>
              <a:rPr dirty="0" sz="1300" spc="11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70">
                <a:solidFill>
                  <a:srgbClr val="2C3E4F"/>
                </a:solidFill>
                <a:latin typeface="Times New Roman"/>
                <a:cs typeface="Times New Roman"/>
              </a:rPr>
              <a:t>expostos</a:t>
            </a:r>
            <a:r>
              <a:rPr dirty="0" sz="1300" spc="114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50">
                <a:solidFill>
                  <a:srgbClr val="2C3E4F"/>
                </a:solidFill>
                <a:latin typeface="Times New Roman"/>
                <a:cs typeface="Times New Roman"/>
              </a:rPr>
              <a:t>a</a:t>
            </a:r>
            <a:r>
              <a:rPr dirty="0" sz="1300" spc="10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10">
                <a:solidFill>
                  <a:srgbClr val="2C3E4F"/>
                </a:solidFill>
                <a:latin typeface="Times New Roman"/>
                <a:cs typeface="Times New Roman"/>
              </a:rPr>
              <a:t>riscos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80">
                <a:solidFill>
                  <a:srgbClr val="2C3E4F"/>
                </a:solidFill>
                <a:latin typeface="Times New Roman"/>
                <a:cs typeface="Times New Roman"/>
              </a:rPr>
              <a:t>milionários</a:t>
            </a:r>
            <a:r>
              <a:rPr dirty="0" sz="1300" spc="12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204">
                <a:solidFill>
                  <a:srgbClr val="2C3E4F"/>
                </a:solidFill>
                <a:latin typeface="Times New Roman"/>
                <a:cs typeface="Times New Roman"/>
              </a:rPr>
              <a:t>sem</a:t>
            </a:r>
            <a:r>
              <a:rPr dirty="0" sz="1300" spc="9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2C3E4F"/>
                </a:solidFill>
                <a:latin typeface="Times New Roman"/>
                <a:cs typeface="Times New Roman"/>
              </a:rPr>
              <a:t>cobertura</a:t>
            </a:r>
            <a:r>
              <a:rPr dirty="0" sz="1300" spc="114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50">
                <a:solidFill>
                  <a:srgbClr val="2C3E4F"/>
                </a:solidFill>
                <a:latin typeface="Times New Roman"/>
                <a:cs typeface="Times New Roman"/>
              </a:rPr>
              <a:t>efetiva</a:t>
            </a:r>
            <a:r>
              <a:rPr dirty="0" sz="1250" spc="50">
                <a:solidFill>
                  <a:srgbClr val="2C3E4F"/>
                </a:solidFill>
                <a:latin typeface="Times New Roman"/>
                <a:cs typeface="Times New Roman"/>
              </a:rPr>
              <a:t>.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6343650"/>
            <a:ext cx="12192000" cy="19050"/>
          </a:xfrm>
          <a:custGeom>
            <a:avLst/>
            <a:gdLst/>
            <a:ahLst/>
            <a:cxnLst/>
            <a:rect l="l" t="t" r="r" b="b"/>
            <a:pathLst>
              <a:path w="12192000" h="19050">
                <a:moveTo>
                  <a:pt x="12192000" y="0"/>
                </a:moveTo>
                <a:lnTo>
                  <a:pt x="0" y="0"/>
                </a:lnTo>
                <a:lnTo>
                  <a:pt x="0" y="19050"/>
                </a:lnTo>
                <a:lnTo>
                  <a:pt x="12192000" y="1905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499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44500" y="6477424"/>
            <a:ext cx="1848485" cy="18161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-165">
                <a:solidFill>
                  <a:srgbClr val="727E87"/>
                </a:solidFill>
                <a:latin typeface="Times New Roman"/>
                <a:cs typeface="Times New Roman"/>
              </a:rPr>
              <a:t>I</a:t>
            </a:r>
            <a:r>
              <a:rPr dirty="0" sz="1000" spc="-15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90">
                <a:solidFill>
                  <a:srgbClr val="727E87"/>
                </a:solidFill>
                <a:latin typeface="Times New Roman"/>
                <a:cs typeface="Times New Roman"/>
              </a:rPr>
              <a:t>nsurMinds</a:t>
            </a:r>
            <a:r>
              <a:rPr dirty="0" sz="1000" spc="35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400" spc="75">
                <a:solidFill>
                  <a:srgbClr val="727E87"/>
                </a:solidFill>
                <a:latin typeface="Times New Roman"/>
                <a:cs typeface="Times New Roman"/>
              </a:rPr>
              <a:t>·</a:t>
            </a:r>
            <a:r>
              <a:rPr dirty="0" sz="400" spc="275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727E87"/>
                </a:solidFill>
                <a:latin typeface="Times New Roman"/>
                <a:cs typeface="Times New Roman"/>
              </a:rPr>
              <a:t>Análise</a:t>
            </a:r>
            <a:r>
              <a:rPr dirty="0" sz="1000" spc="45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130">
                <a:solidFill>
                  <a:srgbClr val="727E87"/>
                </a:solidFill>
                <a:latin typeface="Times New Roman"/>
                <a:cs typeface="Times New Roman"/>
              </a:rPr>
              <a:t>de</a:t>
            </a:r>
            <a:r>
              <a:rPr dirty="0" sz="1000" spc="45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727E87"/>
                </a:solidFill>
                <a:latin typeface="Times New Roman"/>
                <a:cs typeface="Times New Roman"/>
              </a:rPr>
              <a:t>Risco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020845" y="6479999"/>
            <a:ext cx="17164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50">
                <a:solidFill>
                  <a:srgbClr val="727E87"/>
                </a:solidFill>
                <a:latin typeface="Times New Roman"/>
                <a:cs typeface="Times New Roman"/>
              </a:rPr>
              <a:t>AU</a:t>
            </a:r>
            <a:r>
              <a:rPr dirty="0" sz="1000" spc="-155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100">
                <a:solidFill>
                  <a:srgbClr val="727E87"/>
                </a:solidFill>
                <a:latin typeface="Times New Roman"/>
                <a:cs typeface="Times New Roman"/>
              </a:rPr>
              <a:t>TO</a:t>
            </a:r>
            <a:r>
              <a:rPr dirty="0" sz="1000" spc="-14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727E87"/>
                </a:solidFill>
                <a:latin typeface="Times New Roman"/>
                <a:cs typeface="Times New Roman"/>
              </a:rPr>
              <a:t>RI</a:t>
            </a:r>
            <a:r>
              <a:rPr dirty="0" sz="1000" spc="-7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114">
                <a:solidFill>
                  <a:srgbClr val="727E87"/>
                </a:solidFill>
                <a:latin typeface="Times New Roman"/>
                <a:cs typeface="Times New Roman"/>
              </a:rPr>
              <a:t>A</a:t>
            </a:r>
            <a:r>
              <a:rPr dirty="0" sz="550" spc="114">
                <a:solidFill>
                  <a:srgbClr val="727E87"/>
                </a:solidFill>
                <a:latin typeface="Times New Roman"/>
                <a:cs typeface="Times New Roman"/>
              </a:rPr>
              <a:t>:</a:t>
            </a:r>
            <a:r>
              <a:rPr dirty="0" sz="550" spc="42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114">
                <a:solidFill>
                  <a:srgbClr val="727E87"/>
                </a:solidFill>
                <a:latin typeface="Times New Roman"/>
                <a:cs typeface="Times New Roman"/>
              </a:rPr>
              <a:t>CU</a:t>
            </a:r>
            <a:r>
              <a:rPr dirty="0" sz="1000" spc="-15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727E87"/>
                </a:solidFill>
                <a:latin typeface="Times New Roman"/>
                <a:cs typeface="Times New Roman"/>
              </a:rPr>
              <a:t>RI</a:t>
            </a:r>
            <a:r>
              <a:rPr dirty="0" sz="1000" spc="-7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727E87"/>
                </a:solidFill>
                <a:latin typeface="Times New Roman"/>
                <a:cs typeface="Times New Roman"/>
              </a:rPr>
              <a:t>É</a:t>
            </a:r>
            <a:r>
              <a:rPr dirty="0" sz="1000" spc="25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45">
                <a:solidFill>
                  <a:srgbClr val="727E87"/>
                </a:solidFill>
                <a:latin typeface="Times New Roman"/>
                <a:cs typeface="Times New Roman"/>
              </a:rPr>
              <a:t>EDGE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150" i="0">
                <a:solidFill>
                  <a:srgbClr val="162A3A"/>
                </a:solidFill>
                <a:latin typeface="Cambria"/>
                <a:cs typeface="Cambria"/>
              </a:rPr>
              <a:t>InsurMinds:</a:t>
            </a:r>
            <a:r>
              <a:rPr dirty="0" sz="3150" spc="-40" i="0">
                <a:solidFill>
                  <a:srgbClr val="162A3A"/>
                </a:solidFill>
                <a:latin typeface="Cambria"/>
                <a:cs typeface="Cambria"/>
              </a:rPr>
              <a:t> </a:t>
            </a:r>
            <a:r>
              <a:rPr dirty="0"/>
              <a:t>Análise</a:t>
            </a:r>
            <a:r>
              <a:rPr dirty="0" spc="-55"/>
              <a:t> </a:t>
            </a:r>
            <a:r>
              <a:rPr dirty="0" spc="-10"/>
              <a:t>Orientada</a:t>
            </a:r>
            <a:r>
              <a:rPr dirty="0" spc="-30"/>
              <a:t> </a:t>
            </a:r>
            <a:r>
              <a:rPr dirty="0"/>
              <a:t>a</a:t>
            </a:r>
            <a:r>
              <a:rPr dirty="0" spc="-30"/>
              <a:t> </a:t>
            </a:r>
            <a:r>
              <a:rPr dirty="0" spc="-10"/>
              <a:t>Evidências</a:t>
            </a:r>
            <a:endParaRPr sz="315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55300" y="462705"/>
            <a:ext cx="1080135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170">
                <a:solidFill>
                  <a:srgbClr val="162A3A"/>
                </a:solidFill>
                <a:latin typeface="Times New Roman"/>
                <a:cs typeface="Times New Roman"/>
              </a:rPr>
              <a:t>SOLU</a:t>
            </a:r>
            <a:r>
              <a:rPr dirty="0" sz="1400" spc="-15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400" spc="170">
                <a:solidFill>
                  <a:srgbClr val="162A3A"/>
                </a:solidFill>
                <a:latin typeface="Times New Roman"/>
                <a:cs typeface="Times New Roman"/>
              </a:rPr>
              <a:t>ÇÃO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57200" y="1666875"/>
            <a:ext cx="3352800" cy="4733925"/>
            <a:chOff x="457200" y="1666875"/>
            <a:chExt cx="3352800" cy="4733925"/>
          </a:xfrm>
        </p:grpSpPr>
        <p:sp>
          <p:nvSpPr>
            <p:cNvPr id="5" name="object 5"/>
            <p:cNvSpPr/>
            <p:nvPr/>
          </p:nvSpPr>
          <p:spPr>
            <a:xfrm>
              <a:off x="457200" y="1666875"/>
              <a:ext cx="3352800" cy="4733925"/>
            </a:xfrm>
            <a:custGeom>
              <a:avLst/>
              <a:gdLst/>
              <a:ahLst/>
              <a:cxnLst/>
              <a:rect l="l" t="t" r="r" b="b"/>
              <a:pathLst>
                <a:path w="3352800" h="4733925">
                  <a:moveTo>
                    <a:pt x="3352800" y="0"/>
                  </a:moveTo>
                  <a:lnTo>
                    <a:pt x="0" y="0"/>
                  </a:lnTo>
                  <a:lnTo>
                    <a:pt x="0" y="4733925"/>
                  </a:lnTo>
                  <a:lnTo>
                    <a:pt x="3352800" y="4733925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F0EF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461962" y="1671637"/>
              <a:ext cx="3343275" cy="4724400"/>
            </a:xfrm>
            <a:custGeom>
              <a:avLst/>
              <a:gdLst/>
              <a:ahLst/>
              <a:cxnLst/>
              <a:rect l="l" t="t" r="r" b="b"/>
              <a:pathLst>
                <a:path w="3343275" h="4724400">
                  <a:moveTo>
                    <a:pt x="0" y="4724400"/>
                  </a:moveTo>
                  <a:lnTo>
                    <a:pt x="3343275" y="4724400"/>
                  </a:lnTo>
                  <a:lnTo>
                    <a:pt x="3343275" y="0"/>
                  </a:lnTo>
                  <a:lnTo>
                    <a:pt x="0" y="0"/>
                  </a:lnTo>
                  <a:lnTo>
                    <a:pt x="0" y="4724400"/>
                  </a:lnTo>
                  <a:close/>
                </a:path>
              </a:pathLst>
            </a:custGeom>
            <a:ln w="9525">
              <a:solidFill>
                <a:srgbClr val="162A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71525" y="1981200"/>
            <a:ext cx="904875" cy="266700"/>
          </a:xfrm>
          <a:prstGeom prst="rect">
            <a:avLst/>
          </a:prstGeom>
          <a:solidFill>
            <a:srgbClr val="162A3A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0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</a:pPr>
            <a:r>
              <a:rPr dirty="0" sz="1000" spc="130">
                <a:solidFill>
                  <a:srgbClr val="F9F8F4"/>
                </a:solidFill>
                <a:latin typeface="Times New Roman"/>
                <a:cs typeface="Times New Roman"/>
              </a:rPr>
              <a:t>FASE</a:t>
            </a:r>
            <a:r>
              <a:rPr dirty="0" sz="1000" spc="240">
                <a:solidFill>
                  <a:srgbClr val="F9F8F4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F9F8F4"/>
                </a:solidFill>
                <a:latin typeface="Times New Roman"/>
                <a:cs typeface="Times New Roman"/>
              </a:rPr>
              <a:t>01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8825" y="2467367"/>
            <a:ext cx="1753870" cy="2959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215">
                <a:solidFill>
                  <a:srgbClr val="162A3A"/>
                </a:solidFill>
                <a:latin typeface="Times New Roman"/>
                <a:cs typeface="Times New Roman"/>
              </a:rPr>
              <a:t>Ingestão</a:t>
            </a:r>
            <a:r>
              <a:rPr dirty="0" sz="1750" spc="3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700">
                <a:solidFill>
                  <a:srgbClr val="162A3A"/>
                </a:solidFill>
                <a:latin typeface="Times New Roman"/>
                <a:cs typeface="Times New Roman"/>
              </a:rPr>
              <a:t>&amp;</a:t>
            </a:r>
            <a:r>
              <a:rPr dirty="0" sz="1700" spc="-5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750" spc="60">
                <a:solidFill>
                  <a:srgbClr val="162A3A"/>
                </a:solidFill>
                <a:latin typeface="Times New Roman"/>
                <a:cs typeface="Times New Roman"/>
              </a:rPr>
              <a:t>OCR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8825" y="2878203"/>
            <a:ext cx="2743835" cy="10934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130">
                <a:solidFill>
                  <a:srgbClr val="2C3E4F"/>
                </a:solidFill>
                <a:latin typeface="Times New Roman"/>
                <a:cs typeface="Times New Roman"/>
              </a:rPr>
              <a:t>Recebimento</a:t>
            </a:r>
            <a:r>
              <a:rPr dirty="0" sz="1300" spc="7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40">
                <a:solidFill>
                  <a:srgbClr val="2C3E4F"/>
                </a:solidFill>
                <a:latin typeface="Times New Roman"/>
                <a:cs typeface="Times New Roman"/>
              </a:rPr>
              <a:t>de</a:t>
            </a:r>
            <a:r>
              <a:rPr dirty="0" sz="1300" spc="9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60">
                <a:solidFill>
                  <a:srgbClr val="2C3E4F"/>
                </a:solidFill>
                <a:latin typeface="Times New Roman"/>
                <a:cs typeface="Times New Roman"/>
              </a:rPr>
              <a:t>PDFs</a:t>
            </a:r>
            <a:r>
              <a:rPr dirty="0" sz="1300" spc="10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2C3E4F"/>
                </a:solidFill>
                <a:latin typeface="Times New Roman"/>
                <a:cs typeface="Times New Roman"/>
              </a:rPr>
              <a:t>e</a:t>
            </a:r>
            <a:r>
              <a:rPr dirty="0" sz="1300" spc="9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30">
                <a:solidFill>
                  <a:srgbClr val="2C3E4F"/>
                </a:solidFill>
                <a:latin typeface="Times New Roman"/>
                <a:cs typeface="Times New Roman"/>
              </a:rPr>
              <a:t>imagens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150">
                <a:solidFill>
                  <a:srgbClr val="2C3E4F"/>
                </a:solidFill>
                <a:latin typeface="Times New Roman"/>
                <a:cs typeface="Times New Roman"/>
              </a:rPr>
              <a:t>com</a:t>
            </a:r>
            <a:r>
              <a:rPr dirty="0" sz="1300" spc="8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00">
                <a:solidFill>
                  <a:srgbClr val="2C3E4F"/>
                </a:solidFill>
                <a:latin typeface="Times New Roman"/>
                <a:cs typeface="Times New Roman"/>
              </a:rPr>
              <a:t>extração</a:t>
            </a:r>
            <a:r>
              <a:rPr dirty="0" sz="1300" spc="7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10">
                <a:solidFill>
                  <a:srgbClr val="2C3E4F"/>
                </a:solidFill>
                <a:latin typeface="Times New Roman"/>
                <a:cs typeface="Times New Roman"/>
              </a:rPr>
              <a:t>automática</a:t>
            </a:r>
            <a:r>
              <a:rPr dirty="0" sz="1300" spc="10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2C3E4F"/>
                </a:solidFill>
                <a:latin typeface="Times New Roman"/>
                <a:cs typeface="Times New Roman"/>
              </a:rPr>
              <a:t>da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114">
                <a:solidFill>
                  <a:srgbClr val="2C3E4F"/>
                </a:solidFill>
                <a:latin typeface="Times New Roman"/>
                <a:cs typeface="Times New Roman"/>
              </a:rPr>
              <a:t>camada</a:t>
            </a:r>
            <a:r>
              <a:rPr dirty="0" sz="1300" spc="9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40">
                <a:solidFill>
                  <a:srgbClr val="2C3E4F"/>
                </a:solidFill>
                <a:latin typeface="Times New Roman"/>
                <a:cs typeface="Times New Roman"/>
              </a:rPr>
              <a:t>de</a:t>
            </a:r>
            <a:r>
              <a:rPr dirty="0" sz="1300" spc="10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30">
                <a:solidFill>
                  <a:srgbClr val="2C3E4F"/>
                </a:solidFill>
                <a:latin typeface="Times New Roman"/>
                <a:cs typeface="Times New Roman"/>
              </a:rPr>
              <a:t>texto</a:t>
            </a:r>
            <a:r>
              <a:rPr dirty="0" sz="1300" spc="8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65">
                <a:solidFill>
                  <a:srgbClr val="2C3E4F"/>
                </a:solidFill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155">
                <a:solidFill>
                  <a:srgbClr val="2C3E4F"/>
                </a:solidFill>
                <a:latin typeface="Times New Roman"/>
                <a:cs typeface="Times New Roman"/>
              </a:rPr>
              <a:t>processamento</a:t>
            </a:r>
            <a:r>
              <a:rPr dirty="0" sz="1300" spc="8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40">
                <a:solidFill>
                  <a:srgbClr val="2C3E4F"/>
                </a:solidFill>
                <a:latin typeface="Times New Roman"/>
                <a:cs typeface="Times New Roman"/>
              </a:rPr>
              <a:t>de</a:t>
            </a:r>
            <a:r>
              <a:rPr dirty="0" sz="1300" spc="10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80">
                <a:solidFill>
                  <a:srgbClr val="2C3E4F"/>
                </a:solidFill>
                <a:latin typeface="Times New Roman"/>
                <a:cs typeface="Times New Roman"/>
              </a:rPr>
              <a:t>visão</a:t>
            </a:r>
            <a:r>
              <a:rPr dirty="0" sz="1350" spc="80">
                <a:solidFill>
                  <a:srgbClr val="2C3E4F"/>
                </a:solidFill>
                <a:latin typeface="Times New Roman"/>
                <a:cs typeface="Times New Roman"/>
              </a:rPr>
              <a:t>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949700" y="3825875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D49930"/>
                </a:solidFill>
                <a:latin typeface="Microsoft Sans Serif"/>
                <a:cs typeface="Microsoft Sans Serif"/>
              </a:rPr>
              <a:t>→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419600" y="1666875"/>
            <a:ext cx="3352800" cy="4733925"/>
            <a:chOff x="4419600" y="1666875"/>
            <a:chExt cx="3352800" cy="4733925"/>
          </a:xfrm>
        </p:grpSpPr>
        <p:sp>
          <p:nvSpPr>
            <p:cNvPr id="12" name="object 12"/>
            <p:cNvSpPr/>
            <p:nvPr/>
          </p:nvSpPr>
          <p:spPr>
            <a:xfrm>
              <a:off x="4419600" y="1666875"/>
              <a:ext cx="3352800" cy="4733925"/>
            </a:xfrm>
            <a:custGeom>
              <a:avLst/>
              <a:gdLst/>
              <a:ahLst/>
              <a:cxnLst/>
              <a:rect l="l" t="t" r="r" b="b"/>
              <a:pathLst>
                <a:path w="3352800" h="4733925">
                  <a:moveTo>
                    <a:pt x="3352800" y="0"/>
                  </a:moveTo>
                  <a:lnTo>
                    <a:pt x="0" y="0"/>
                  </a:lnTo>
                  <a:lnTo>
                    <a:pt x="0" y="4733925"/>
                  </a:lnTo>
                  <a:lnTo>
                    <a:pt x="3352800" y="4733925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F0EF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424362" y="1671637"/>
              <a:ext cx="3343275" cy="4724400"/>
            </a:xfrm>
            <a:custGeom>
              <a:avLst/>
              <a:gdLst/>
              <a:ahLst/>
              <a:cxnLst/>
              <a:rect l="l" t="t" r="r" b="b"/>
              <a:pathLst>
                <a:path w="3343275" h="4724400">
                  <a:moveTo>
                    <a:pt x="0" y="4724400"/>
                  </a:moveTo>
                  <a:lnTo>
                    <a:pt x="3343275" y="4724400"/>
                  </a:lnTo>
                  <a:lnTo>
                    <a:pt x="3343275" y="0"/>
                  </a:lnTo>
                  <a:lnTo>
                    <a:pt x="0" y="0"/>
                  </a:lnTo>
                  <a:lnTo>
                    <a:pt x="0" y="4724400"/>
                  </a:lnTo>
                  <a:close/>
                </a:path>
              </a:pathLst>
            </a:custGeom>
            <a:ln w="9525">
              <a:solidFill>
                <a:srgbClr val="162A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733925" y="1981200"/>
            <a:ext cx="933450" cy="266700"/>
          </a:xfrm>
          <a:prstGeom prst="rect">
            <a:avLst/>
          </a:prstGeom>
          <a:solidFill>
            <a:srgbClr val="D4993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0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</a:pPr>
            <a:r>
              <a:rPr dirty="0" sz="1000" spc="130">
                <a:solidFill>
                  <a:srgbClr val="162A3A"/>
                </a:solidFill>
                <a:latin typeface="Times New Roman"/>
                <a:cs typeface="Times New Roman"/>
              </a:rPr>
              <a:t>FASE</a:t>
            </a:r>
            <a:r>
              <a:rPr dirty="0" sz="1000" spc="24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000" spc="180">
                <a:solidFill>
                  <a:srgbClr val="162A3A"/>
                </a:solidFill>
                <a:latin typeface="Times New Roman"/>
                <a:cs typeface="Times New Roman"/>
              </a:rPr>
              <a:t>02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721225" y="2467367"/>
            <a:ext cx="2687320" cy="2959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225">
                <a:solidFill>
                  <a:srgbClr val="162A3A"/>
                </a:solidFill>
                <a:latin typeface="Times New Roman"/>
                <a:cs typeface="Times New Roman"/>
              </a:rPr>
              <a:t>Estruturação</a:t>
            </a:r>
            <a:r>
              <a:rPr dirty="0" sz="1750" spc="4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750" spc="110">
                <a:solidFill>
                  <a:srgbClr val="162A3A"/>
                </a:solidFill>
                <a:latin typeface="Times New Roman"/>
                <a:cs typeface="Times New Roman"/>
              </a:rPr>
              <a:t>Inteligente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721225" y="2878855"/>
            <a:ext cx="2369185" cy="10922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-210">
                <a:solidFill>
                  <a:srgbClr val="2C3E4F"/>
                </a:solidFill>
                <a:latin typeface="Times New Roman"/>
                <a:cs typeface="Times New Roman"/>
              </a:rPr>
              <a:t>I </a:t>
            </a:r>
            <a:r>
              <a:rPr dirty="0" sz="1300" spc="90">
                <a:solidFill>
                  <a:srgbClr val="2C3E4F"/>
                </a:solidFill>
                <a:latin typeface="Times New Roman"/>
                <a:cs typeface="Times New Roman"/>
              </a:rPr>
              <a:t>dentificação</a:t>
            </a:r>
            <a:r>
              <a:rPr dirty="0" sz="1300" spc="6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40">
                <a:solidFill>
                  <a:srgbClr val="2C3E4F"/>
                </a:solidFill>
                <a:latin typeface="Times New Roman"/>
                <a:cs typeface="Times New Roman"/>
              </a:rPr>
              <a:t>de</a:t>
            </a:r>
            <a:r>
              <a:rPr dirty="0" sz="1300" spc="9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65">
                <a:solidFill>
                  <a:srgbClr val="2C3E4F"/>
                </a:solidFill>
                <a:latin typeface="Times New Roman"/>
                <a:cs typeface="Times New Roman"/>
              </a:rPr>
              <a:t>limites</a:t>
            </a:r>
            <a:r>
              <a:rPr dirty="0" sz="1350" spc="65">
                <a:solidFill>
                  <a:srgbClr val="2C3E4F"/>
                </a:solidFill>
                <a:latin typeface="Times New Roman"/>
                <a:cs typeface="Times New Roman"/>
              </a:rPr>
              <a:t>,</a:t>
            </a:r>
            <a:endParaRPr sz="13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90">
                <a:solidFill>
                  <a:srgbClr val="2C3E4F"/>
                </a:solidFill>
                <a:latin typeface="Times New Roman"/>
                <a:cs typeface="Times New Roman"/>
              </a:rPr>
              <a:t>franquias</a:t>
            </a:r>
            <a:r>
              <a:rPr dirty="0" sz="1350" spc="90">
                <a:solidFill>
                  <a:srgbClr val="2C3E4F"/>
                </a:solidFill>
                <a:latin typeface="Times New Roman"/>
                <a:cs typeface="Times New Roman"/>
              </a:rPr>
              <a:t>,</a:t>
            </a:r>
            <a:r>
              <a:rPr dirty="0" sz="1350" spc="14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20">
                <a:solidFill>
                  <a:srgbClr val="2C3E4F"/>
                </a:solidFill>
                <a:latin typeface="Times New Roman"/>
                <a:cs typeface="Times New Roman"/>
              </a:rPr>
              <a:t>coberturas</a:t>
            </a:r>
            <a:r>
              <a:rPr dirty="0" sz="1300" spc="12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65">
                <a:solidFill>
                  <a:srgbClr val="2C3E4F"/>
                </a:solidFill>
                <a:latin typeface="Times New Roman"/>
                <a:cs typeface="Times New Roman"/>
              </a:rPr>
              <a:t>e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140">
                <a:solidFill>
                  <a:srgbClr val="2C3E4F"/>
                </a:solidFill>
                <a:latin typeface="Times New Roman"/>
                <a:cs typeface="Times New Roman"/>
              </a:rPr>
              <a:t>exclusões</a:t>
            </a:r>
            <a:r>
              <a:rPr dirty="0" sz="1300" spc="10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75">
                <a:solidFill>
                  <a:srgbClr val="2C3E4F"/>
                </a:solidFill>
                <a:latin typeface="Times New Roman"/>
                <a:cs typeface="Times New Roman"/>
              </a:rPr>
              <a:t>em</a:t>
            </a:r>
            <a:r>
              <a:rPr dirty="0" sz="1300" spc="8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2C3E4F"/>
                </a:solidFill>
                <a:latin typeface="Times New Roman"/>
                <a:cs typeface="Times New Roman"/>
              </a:rPr>
              <a:t>formato</a:t>
            </a:r>
            <a:r>
              <a:rPr dirty="0" sz="1300" spc="7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25">
                <a:solidFill>
                  <a:srgbClr val="2C3E4F"/>
                </a:solidFill>
                <a:latin typeface="Times New Roman"/>
                <a:cs typeface="Times New Roman"/>
              </a:rPr>
              <a:t>JSON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80">
                <a:solidFill>
                  <a:srgbClr val="2C3E4F"/>
                </a:solidFill>
                <a:latin typeface="Times New Roman"/>
                <a:cs typeface="Times New Roman"/>
              </a:rPr>
              <a:t>auditável</a:t>
            </a:r>
            <a:r>
              <a:rPr dirty="0" sz="1300" spc="12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50" spc="-95">
                <a:solidFill>
                  <a:srgbClr val="2C3E4F"/>
                </a:solidFill>
                <a:latin typeface="Times New Roman"/>
                <a:cs typeface="Times New Roman"/>
              </a:rPr>
              <a:t>(</a:t>
            </a:r>
            <a:r>
              <a:rPr dirty="0" sz="1300" spc="-95">
                <a:solidFill>
                  <a:srgbClr val="2C3E4F"/>
                </a:solidFill>
                <a:latin typeface="Times New Roman"/>
                <a:cs typeface="Times New Roman"/>
              </a:rPr>
              <a:t>I</a:t>
            </a:r>
            <a:r>
              <a:rPr dirty="0" sz="1300" spc="-21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2C3E4F"/>
                </a:solidFill>
                <a:latin typeface="Times New Roman"/>
                <a:cs typeface="Times New Roman"/>
              </a:rPr>
              <a:t>A</a:t>
            </a:r>
            <a:r>
              <a:rPr dirty="0" sz="1300" spc="-3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50">
                <a:solidFill>
                  <a:srgbClr val="2C3E4F"/>
                </a:solidFill>
                <a:latin typeface="Times New Roman"/>
                <a:cs typeface="Times New Roman"/>
              </a:rPr>
              <a:t>+</a:t>
            </a:r>
            <a:r>
              <a:rPr dirty="0" sz="1350" spc="114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95">
                <a:solidFill>
                  <a:srgbClr val="2C3E4F"/>
                </a:solidFill>
                <a:latin typeface="Times New Roman"/>
                <a:cs typeface="Times New Roman"/>
              </a:rPr>
              <a:t>Regras</a:t>
            </a:r>
            <a:r>
              <a:rPr dirty="0" sz="1350" spc="95">
                <a:solidFill>
                  <a:srgbClr val="2C3E4F"/>
                </a:solidFill>
                <a:latin typeface="Times New Roman"/>
                <a:cs typeface="Times New Roman"/>
              </a:rPr>
              <a:t>)</a:t>
            </a:r>
            <a:r>
              <a:rPr dirty="0" sz="1350" spc="-19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50" spc="-50">
                <a:solidFill>
                  <a:srgbClr val="2C3E4F"/>
                </a:solidFill>
                <a:latin typeface="Times New Roman"/>
                <a:cs typeface="Times New Roman"/>
              </a:rPr>
              <a:t>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12100" y="3825875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>
                <a:solidFill>
                  <a:srgbClr val="D49930"/>
                </a:solidFill>
                <a:latin typeface="Microsoft Sans Serif"/>
                <a:cs typeface="Microsoft Sans Serif"/>
              </a:rPr>
              <a:t>→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8382000" y="1666875"/>
            <a:ext cx="3352800" cy="4733925"/>
            <a:chOff x="8382000" y="1666875"/>
            <a:chExt cx="3352800" cy="4733925"/>
          </a:xfrm>
        </p:grpSpPr>
        <p:sp>
          <p:nvSpPr>
            <p:cNvPr id="19" name="object 19"/>
            <p:cNvSpPr/>
            <p:nvPr/>
          </p:nvSpPr>
          <p:spPr>
            <a:xfrm>
              <a:off x="8382000" y="1666875"/>
              <a:ext cx="3352800" cy="4733925"/>
            </a:xfrm>
            <a:custGeom>
              <a:avLst/>
              <a:gdLst/>
              <a:ahLst/>
              <a:cxnLst/>
              <a:rect l="l" t="t" r="r" b="b"/>
              <a:pathLst>
                <a:path w="3352800" h="4733925">
                  <a:moveTo>
                    <a:pt x="3352800" y="0"/>
                  </a:moveTo>
                  <a:lnTo>
                    <a:pt x="0" y="0"/>
                  </a:lnTo>
                  <a:lnTo>
                    <a:pt x="0" y="4733925"/>
                  </a:lnTo>
                  <a:lnTo>
                    <a:pt x="3352800" y="4733925"/>
                  </a:lnTo>
                  <a:lnTo>
                    <a:pt x="3352800" y="0"/>
                  </a:lnTo>
                  <a:close/>
                </a:path>
              </a:pathLst>
            </a:custGeom>
            <a:solidFill>
              <a:srgbClr val="F0EF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8386762" y="1671637"/>
              <a:ext cx="3343275" cy="4724400"/>
            </a:xfrm>
            <a:custGeom>
              <a:avLst/>
              <a:gdLst/>
              <a:ahLst/>
              <a:cxnLst/>
              <a:rect l="l" t="t" r="r" b="b"/>
              <a:pathLst>
                <a:path w="3343275" h="4724400">
                  <a:moveTo>
                    <a:pt x="0" y="4724400"/>
                  </a:moveTo>
                  <a:lnTo>
                    <a:pt x="3343275" y="4724400"/>
                  </a:lnTo>
                  <a:lnTo>
                    <a:pt x="3343275" y="0"/>
                  </a:lnTo>
                  <a:lnTo>
                    <a:pt x="0" y="0"/>
                  </a:lnTo>
                  <a:lnTo>
                    <a:pt x="0" y="4724400"/>
                  </a:lnTo>
                  <a:close/>
                </a:path>
              </a:pathLst>
            </a:custGeom>
            <a:ln w="9525">
              <a:solidFill>
                <a:srgbClr val="162A3A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8696325" y="1981200"/>
            <a:ext cx="933450" cy="266700"/>
          </a:xfrm>
          <a:prstGeom prst="rect">
            <a:avLst/>
          </a:prstGeom>
          <a:solidFill>
            <a:srgbClr val="162A3A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0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</a:pPr>
            <a:r>
              <a:rPr dirty="0" sz="1000" spc="130">
                <a:solidFill>
                  <a:srgbClr val="F9F8F4"/>
                </a:solidFill>
                <a:latin typeface="Times New Roman"/>
                <a:cs typeface="Times New Roman"/>
              </a:rPr>
              <a:t>FASE</a:t>
            </a:r>
            <a:r>
              <a:rPr dirty="0" sz="1000" spc="240">
                <a:solidFill>
                  <a:srgbClr val="F9F8F4"/>
                </a:solidFill>
                <a:latin typeface="Times New Roman"/>
                <a:cs typeface="Times New Roman"/>
              </a:rPr>
              <a:t> </a:t>
            </a:r>
            <a:r>
              <a:rPr dirty="0" sz="1000" spc="195">
                <a:solidFill>
                  <a:srgbClr val="F9F8F4"/>
                </a:solidFill>
                <a:latin typeface="Times New Roman"/>
                <a:cs typeface="Times New Roman"/>
              </a:rPr>
              <a:t>03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683625" y="2467367"/>
            <a:ext cx="2590800" cy="2959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750" spc="270">
                <a:solidFill>
                  <a:srgbClr val="162A3A"/>
                </a:solidFill>
                <a:latin typeface="Times New Roman"/>
                <a:cs typeface="Times New Roman"/>
              </a:rPr>
              <a:t>Comparação</a:t>
            </a:r>
            <a:r>
              <a:rPr dirty="0" sz="1750" spc="5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750" spc="110">
                <a:solidFill>
                  <a:srgbClr val="162A3A"/>
                </a:solidFill>
                <a:latin typeface="Times New Roman"/>
                <a:cs typeface="Times New Roman"/>
              </a:rPr>
              <a:t>Executiva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683625" y="2878203"/>
            <a:ext cx="2581910" cy="10934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34600"/>
              </a:lnSpc>
              <a:spcBef>
                <a:spcPts val="95"/>
              </a:spcBef>
            </a:pPr>
            <a:r>
              <a:rPr dirty="0" sz="1300" spc="135">
                <a:solidFill>
                  <a:srgbClr val="2C3E4F"/>
                </a:solidFill>
                <a:latin typeface="Times New Roman"/>
                <a:cs typeface="Times New Roman"/>
              </a:rPr>
              <a:t>Destaque</a:t>
            </a:r>
            <a:r>
              <a:rPr dirty="0" sz="1300" spc="9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75">
                <a:solidFill>
                  <a:srgbClr val="2C3E4F"/>
                </a:solidFill>
                <a:latin typeface="Times New Roman"/>
                <a:cs typeface="Times New Roman"/>
              </a:rPr>
              <a:t>visual</a:t>
            </a:r>
            <a:r>
              <a:rPr dirty="0" sz="1300" spc="13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55">
                <a:solidFill>
                  <a:srgbClr val="2C3E4F"/>
                </a:solidFill>
                <a:latin typeface="Times New Roman"/>
                <a:cs typeface="Times New Roman"/>
              </a:rPr>
              <a:t>das</a:t>
            </a:r>
            <a:r>
              <a:rPr dirty="0" sz="1300" spc="11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2C3E4F"/>
                </a:solidFill>
                <a:latin typeface="Times New Roman"/>
                <a:cs typeface="Times New Roman"/>
              </a:rPr>
              <a:t>diferenças </a:t>
            </a:r>
            <a:r>
              <a:rPr dirty="0" sz="1300" spc="140">
                <a:solidFill>
                  <a:srgbClr val="2C3E4F"/>
                </a:solidFill>
                <a:latin typeface="Times New Roman"/>
                <a:cs typeface="Times New Roman"/>
              </a:rPr>
              <a:t>de</a:t>
            </a:r>
            <a:r>
              <a:rPr dirty="0" sz="1300" spc="95">
                <a:solidFill>
                  <a:srgbClr val="2C3E4F"/>
                </a:solidFill>
                <a:latin typeface="Times New Roman"/>
                <a:cs typeface="Times New Roman"/>
              </a:rPr>
              <a:t> risco</a:t>
            </a:r>
            <a:r>
              <a:rPr dirty="0" sz="1300" spc="7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2C3E4F"/>
                </a:solidFill>
                <a:latin typeface="Times New Roman"/>
                <a:cs typeface="Times New Roman"/>
              </a:rPr>
              <a:t>e</a:t>
            </a:r>
            <a:r>
              <a:rPr dirty="0" sz="1300" spc="10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2C3E4F"/>
                </a:solidFill>
                <a:latin typeface="Times New Roman"/>
                <a:cs typeface="Times New Roman"/>
              </a:rPr>
              <a:t>geração</a:t>
            </a:r>
            <a:r>
              <a:rPr dirty="0" sz="1300" spc="7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40">
                <a:solidFill>
                  <a:srgbClr val="2C3E4F"/>
                </a:solidFill>
                <a:latin typeface="Times New Roman"/>
                <a:cs typeface="Times New Roman"/>
              </a:rPr>
              <a:t>de</a:t>
            </a:r>
            <a:r>
              <a:rPr dirty="0" sz="1300" spc="10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2C3E4F"/>
                </a:solidFill>
                <a:latin typeface="Times New Roman"/>
                <a:cs typeface="Times New Roman"/>
              </a:rPr>
              <a:t>alertas </a:t>
            </a:r>
            <a:r>
              <a:rPr dirty="0" sz="1300" spc="80">
                <a:solidFill>
                  <a:srgbClr val="2C3E4F"/>
                </a:solidFill>
                <a:latin typeface="Times New Roman"/>
                <a:cs typeface="Times New Roman"/>
              </a:rPr>
              <a:t>para</a:t>
            </a:r>
            <a:r>
              <a:rPr dirty="0" sz="1300" spc="8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50">
                <a:solidFill>
                  <a:srgbClr val="2C3E4F"/>
                </a:solidFill>
                <a:latin typeface="Times New Roman"/>
                <a:cs typeface="Times New Roman"/>
              </a:rPr>
              <a:t>suporte</a:t>
            </a:r>
            <a:r>
              <a:rPr dirty="0" sz="1300" spc="9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50">
                <a:solidFill>
                  <a:srgbClr val="2C3E4F"/>
                </a:solidFill>
                <a:latin typeface="Times New Roman"/>
                <a:cs typeface="Times New Roman"/>
              </a:rPr>
              <a:t>à</a:t>
            </a:r>
            <a:r>
              <a:rPr dirty="0" sz="1300" spc="9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40">
                <a:solidFill>
                  <a:srgbClr val="2C3E4F"/>
                </a:solidFill>
                <a:latin typeface="Times New Roman"/>
                <a:cs typeface="Times New Roman"/>
              </a:rPr>
              <a:t>tomada</a:t>
            </a:r>
            <a:r>
              <a:rPr dirty="0" sz="1300" spc="9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2C3E4F"/>
                </a:solidFill>
                <a:latin typeface="Times New Roman"/>
                <a:cs typeface="Times New Roman"/>
              </a:rPr>
              <a:t>de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95">
                <a:solidFill>
                  <a:srgbClr val="2C3E4F"/>
                </a:solidFill>
                <a:latin typeface="Times New Roman"/>
                <a:cs typeface="Times New Roman"/>
              </a:rPr>
              <a:t>decisão</a:t>
            </a:r>
            <a:r>
              <a:rPr dirty="0" sz="1350" spc="95">
                <a:solidFill>
                  <a:srgbClr val="2C3E4F"/>
                </a:solidFill>
                <a:latin typeface="Times New Roman"/>
                <a:cs typeface="Times New Roman"/>
              </a:rPr>
              <a:t>.</a:t>
            </a:r>
            <a:endParaRPr sz="135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0" y="6343650"/>
            <a:ext cx="12192000" cy="19050"/>
          </a:xfrm>
          <a:custGeom>
            <a:avLst/>
            <a:gdLst/>
            <a:ahLst/>
            <a:cxnLst/>
            <a:rect l="l" t="t" r="r" b="b"/>
            <a:pathLst>
              <a:path w="12192000" h="19050">
                <a:moveTo>
                  <a:pt x="12192000" y="0"/>
                </a:moveTo>
                <a:lnTo>
                  <a:pt x="0" y="0"/>
                </a:lnTo>
                <a:lnTo>
                  <a:pt x="0" y="19050"/>
                </a:lnTo>
                <a:lnTo>
                  <a:pt x="12192000" y="1905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499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44500" y="6477424"/>
            <a:ext cx="1830070" cy="18161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-165">
                <a:solidFill>
                  <a:srgbClr val="727E87"/>
                </a:solidFill>
                <a:latin typeface="Times New Roman"/>
                <a:cs typeface="Times New Roman"/>
              </a:rPr>
              <a:t>I</a:t>
            </a:r>
            <a:r>
              <a:rPr dirty="0" sz="1000" spc="-114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90">
                <a:solidFill>
                  <a:srgbClr val="727E87"/>
                </a:solidFill>
                <a:latin typeface="Times New Roman"/>
                <a:cs typeface="Times New Roman"/>
              </a:rPr>
              <a:t>nsurMinds</a:t>
            </a:r>
            <a:r>
              <a:rPr dirty="0" sz="1000" spc="13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400" spc="75">
                <a:solidFill>
                  <a:srgbClr val="727E87"/>
                </a:solidFill>
                <a:latin typeface="Times New Roman"/>
                <a:cs typeface="Times New Roman"/>
              </a:rPr>
              <a:t>·</a:t>
            </a:r>
            <a:r>
              <a:rPr dirty="0" sz="400" spc="405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727E87"/>
                </a:solidFill>
                <a:latin typeface="Times New Roman"/>
                <a:cs typeface="Times New Roman"/>
              </a:rPr>
              <a:t>Workflow</a:t>
            </a:r>
            <a:r>
              <a:rPr dirty="0" sz="1000" spc="55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727E87"/>
                </a:solidFill>
                <a:latin typeface="Times New Roman"/>
                <a:cs typeface="Times New Roman"/>
              </a:rPr>
              <a:t>Digital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020845" y="6479999"/>
            <a:ext cx="17164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50">
                <a:solidFill>
                  <a:srgbClr val="727E87"/>
                </a:solidFill>
                <a:latin typeface="Times New Roman"/>
                <a:cs typeface="Times New Roman"/>
              </a:rPr>
              <a:t>AU</a:t>
            </a:r>
            <a:r>
              <a:rPr dirty="0" sz="1000" spc="-155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100">
                <a:solidFill>
                  <a:srgbClr val="727E87"/>
                </a:solidFill>
                <a:latin typeface="Times New Roman"/>
                <a:cs typeface="Times New Roman"/>
              </a:rPr>
              <a:t>TO</a:t>
            </a:r>
            <a:r>
              <a:rPr dirty="0" sz="1000" spc="-14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727E87"/>
                </a:solidFill>
                <a:latin typeface="Times New Roman"/>
                <a:cs typeface="Times New Roman"/>
              </a:rPr>
              <a:t>RI</a:t>
            </a:r>
            <a:r>
              <a:rPr dirty="0" sz="1000" spc="-7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114">
                <a:solidFill>
                  <a:srgbClr val="727E87"/>
                </a:solidFill>
                <a:latin typeface="Times New Roman"/>
                <a:cs typeface="Times New Roman"/>
              </a:rPr>
              <a:t>A</a:t>
            </a:r>
            <a:r>
              <a:rPr dirty="0" sz="550" spc="114">
                <a:solidFill>
                  <a:srgbClr val="727E87"/>
                </a:solidFill>
                <a:latin typeface="Times New Roman"/>
                <a:cs typeface="Times New Roman"/>
              </a:rPr>
              <a:t>:</a:t>
            </a:r>
            <a:r>
              <a:rPr dirty="0" sz="550" spc="42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114">
                <a:solidFill>
                  <a:srgbClr val="727E87"/>
                </a:solidFill>
                <a:latin typeface="Times New Roman"/>
                <a:cs typeface="Times New Roman"/>
              </a:rPr>
              <a:t>CU</a:t>
            </a:r>
            <a:r>
              <a:rPr dirty="0" sz="1000" spc="-15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727E87"/>
                </a:solidFill>
                <a:latin typeface="Times New Roman"/>
                <a:cs typeface="Times New Roman"/>
              </a:rPr>
              <a:t>RI</a:t>
            </a:r>
            <a:r>
              <a:rPr dirty="0" sz="1000" spc="-7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727E87"/>
                </a:solidFill>
                <a:latin typeface="Times New Roman"/>
                <a:cs typeface="Times New Roman"/>
              </a:rPr>
              <a:t>É</a:t>
            </a:r>
            <a:r>
              <a:rPr dirty="0" sz="1000" spc="25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45">
                <a:solidFill>
                  <a:srgbClr val="727E87"/>
                </a:solidFill>
                <a:latin typeface="Times New Roman"/>
                <a:cs typeface="Times New Roman"/>
              </a:rPr>
              <a:t>EDGE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150" spc="-10" i="0">
                <a:solidFill>
                  <a:srgbClr val="162A3A"/>
                </a:solidFill>
                <a:latin typeface="Cambria"/>
                <a:cs typeface="Cambria"/>
              </a:rPr>
              <a:t>Arquitetura</a:t>
            </a:r>
            <a:r>
              <a:rPr dirty="0" sz="3150" spc="-65" i="0">
                <a:solidFill>
                  <a:srgbClr val="162A3A"/>
                </a:solidFill>
                <a:latin typeface="Cambria"/>
                <a:cs typeface="Cambria"/>
              </a:rPr>
              <a:t> </a:t>
            </a:r>
            <a:r>
              <a:rPr dirty="0" sz="3150" i="0">
                <a:solidFill>
                  <a:srgbClr val="162A3A"/>
                </a:solidFill>
                <a:latin typeface="Cambria"/>
                <a:cs typeface="Cambria"/>
              </a:rPr>
              <a:t>de</a:t>
            </a:r>
            <a:r>
              <a:rPr dirty="0" sz="3150" spc="-85" i="0">
                <a:solidFill>
                  <a:srgbClr val="162A3A"/>
                </a:solidFill>
                <a:latin typeface="Cambria"/>
                <a:cs typeface="Cambria"/>
              </a:rPr>
              <a:t> </a:t>
            </a:r>
            <a:r>
              <a:rPr dirty="0" spc="-20"/>
              <a:t>Agentes</a:t>
            </a:r>
            <a:r>
              <a:rPr dirty="0" spc="-125"/>
              <a:t> </a:t>
            </a:r>
            <a:r>
              <a:rPr dirty="0" spc="-10"/>
              <a:t>Lógicos</a:t>
            </a:r>
            <a:endParaRPr sz="315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83825" y="463047"/>
            <a:ext cx="144907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190">
                <a:solidFill>
                  <a:srgbClr val="162A3A"/>
                </a:solidFill>
                <a:latin typeface="Times New Roman"/>
                <a:cs typeface="Times New Roman"/>
              </a:rPr>
              <a:t>TE</a:t>
            </a:r>
            <a:r>
              <a:rPr dirty="0" sz="1400" spc="-18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400" spc="195">
                <a:solidFill>
                  <a:srgbClr val="162A3A"/>
                </a:solidFill>
                <a:latin typeface="Times New Roman"/>
                <a:cs typeface="Times New Roman"/>
              </a:rPr>
              <a:t>CN</a:t>
            </a:r>
            <a:r>
              <a:rPr dirty="0" sz="1400" spc="-19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400" spc="110">
                <a:solidFill>
                  <a:srgbClr val="162A3A"/>
                </a:solidFill>
                <a:latin typeface="Times New Roman"/>
                <a:cs typeface="Times New Roman"/>
              </a:rPr>
              <a:t>OLOGI</a:t>
            </a:r>
            <a:r>
              <a:rPr dirty="0" sz="1400" spc="-5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400" spc="50">
                <a:solidFill>
                  <a:srgbClr val="162A3A"/>
                </a:solidFill>
                <a:latin typeface="Times New Roman"/>
                <a:cs typeface="Times New Roman"/>
              </a:rPr>
              <a:t>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50475" y="1564133"/>
            <a:ext cx="1077595" cy="1568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70">
                <a:solidFill>
                  <a:srgbClr val="D49930"/>
                </a:solidFill>
                <a:latin typeface="Times New Roman"/>
                <a:cs typeface="Times New Roman"/>
              </a:rPr>
              <a:t>PROCESSAMENTO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1737" y="1678433"/>
            <a:ext cx="610870" cy="1568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D49930"/>
                </a:solidFill>
                <a:latin typeface="Times New Roman"/>
                <a:cs typeface="Times New Roman"/>
              </a:rPr>
              <a:t>INGESTÃO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02325" y="1678433"/>
            <a:ext cx="391795" cy="1568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D49930"/>
                </a:solidFill>
                <a:latin typeface="Times New Roman"/>
                <a:cs typeface="Times New Roman"/>
              </a:rPr>
              <a:t>VISÃO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6725" y="1952625"/>
            <a:ext cx="2076450" cy="628650"/>
          </a:xfrm>
          <a:prstGeom prst="rect">
            <a:avLst/>
          </a:prstGeom>
          <a:solidFill>
            <a:srgbClr val="F0EFE9"/>
          </a:solidFill>
          <a:ln w="19050">
            <a:solidFill>
              <a:srgbClr val="162A3A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</a:pPr>
            <a:r>
              <a:rPr dirty="0" sz="1150" spc="120">
                <a:latin typeface="Times New Roman"/>
                <a:cs typeface="Times New Roman"/>
              </a:rPr>
              <a:t>Agente</a:t>
            </a:r>
            <a:r>
              <a:rPr dirty="0" sz="1150" spc="-20">
                <a:latin typeface="Times New Roman"/>
                <a:cs typeface="Times New Roman"/>
              </a:rPr>
              <a:t> </a:t>
            </a:r>
            <a:r>
              <a:rPr dirty="0" sz="1150" spc="145">
                <a:latin typeface="Times New Roman"/>
                <a:cs typeface="Times New Roman"/>
              </a:rPr>
              <a:t>de</a:t>
            </a:r>
            <a:r>
              <a:rPr dirty="0" sz="1150" spc="-15">
                <a:latin typeface="Times New Roman"/>
                <a:cs typeface="Times New Roman"/>
              </a:rPr>
              <a:t> </a:t>
            </a:r>
            <a:r>
              <a:rPr dirty="0" sz="1150" spc="85">
                <a:latin typeface="Times New Roman"/>
                <a:cs typeface="Times New Roman"/>
              </a:rPr>
              <a:t>Recepção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35250" y="2054225"/>
            <a:ext cx="23806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79015" algn="l"/>
              </a:tabLst>
            </a:pPr>
            <a:r>
              <a:rPr dirty="0" sz="900" strike="sngStrike">
                <a:solidFill>
                  <a:srgbClr val="D49930"/>
                </a:solidFill>
                <a:latin typeface="Times New Roman"/>
                <a:cs typeface="Times New Roman"/>
              </a:rPr>
              <a:t>	</a:t>
            </a:r>
            <a:r>
              <a:rPr dirty="0" sz="900" spc="-50" strike="sngStrike">
                <a:solidFill>
                  <a:srgbClr val="D49930"/>
                </a:solidFill>
                <a:latin typeface="Lucida Sans Unicode"/>
                <a:cs typeface="Lucida Sans Unicode"/>
              </a:rPr>
              <a:t>▶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057775" y="1952625"/>
            <a:ext cx="2076450" cy="628650"/>
          </a:xfrm>
          <a:prstGeom prst="rect">
            <a:avLst/>
          </a:prstGeom>
          <a:solidFill>
            <a:srgbClr val="F0EFE9"/>
          </a:solidFill>
          <a:ln w="19050">
            <a:solidFill>
              <a:srgbClr val="162A3A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">
              <a:latin typeface="Times New Roman"/>
              <a:cs typeface="Times New Roman"/>
            </a:endParaRPr>
          </a:p>
          <a:p>
            <a:pPr marL="375920">
              <a:lnSpc>
                <a:spcPct val="100000"/>
              </a:lnSpc>
            </a:pPr>
            <a:r>
              <a:rPr dirty="0" sz="1150" spc="120">
                <a:latin typeface="Times New Roman"/>
                <a:cs typeface="Times New Roman"/>
              </a:rPr>
              <a:t>Agente</a:t>
            </a:r>
            <a:r>
              <a:rPr dirty="0" sz="1150" spc="-25">
                <a:latin typeface="Times New Roman"/>
                <a:cs typeface="Times New Roman"/>
              </a:rPr>
              <a:t> </a:t>
            </a:r>
            <a:r>
              <a:rPr dirty="0" sz="1150" spc="105">
                <a:latin typeface="Times New Roman"/>
                <a:cs typeface="Times New Roman"/>
              </a:rPr>
              <a:t>OCR</a:t>
            </a:r>
            <a:r>
              <a:rPr dirty="0" sz="1150" spc="-50">
                <a:latin typeface="Times New Roman"/>
                <a:cs typeface="Times New Roman"/>
              </a:rPr>
              <a:t> </a:t>
            </a:r>
            <a:r>
              <a:rPr dirty="0" sz="1050" spc="229">
                <a:latin typeface="Times New Roman"/>
                <a:cs typeface="Times New Roman"/>
              </a:rPr>
              <a:t>/</a:t>
            </a:r>
            <a:r>
              <a:rPr dirty="0" sz="1050" spc="25">
                <a:latin typeface="Times New Roman"/>
                <a:cs typeface="Times New Roman"/>
              </a:rPr>
              <a:t> </a:t>
            </a:r>
            <a:r>
              <a:rPr dirty="0" sz="1150" spc="90">
                <a:latin typeface="Times New Roman"/>
                <a:cs typeface="Times New Roman"/>
              </a:rPr>
              <a:t>PDF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226300" y="2054225"/>
            <a:ext cx="238061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79015" algn="l"/>
              </a:tabLst>
            </a:pPr>
            <a:r>
              <a:rPr dirty="0" sz="900" strike="sngStrike">
                <a:solidFill>
                  <a:srgbClr val="D49930"/>
                </a:solidFill>
                <a:latin typeface="Times New Roman"/>
                <a:cs typeface="Times New Roman"/>
              </a:rPr>
              <a:t>	</a:t>
            </a:r>
            <a:r>
              <a:rPr dirty="0" sz="900" spc="-50" strike="sngStrike">
                <a:solidFill>
                  <a:srgbClr val="D49930"/>
                </a:solidFill>
                <a:latin typeface="Lucida Sans Unicode"/>
                <a:cs typeface="Lucida Sans Unicode"/>
              </a:rPr>
              <a:t>▶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48825" y="1838325"/>
            <a:ext cx="2076450" cy="857250"/>
          </a:xfrm>
          <a:prstGeom prst="rect">
            <a:avLst/>
          </a:prstGeom>
          <a:solidFill>
            <a:srgbClr val="F0EFE9"/>
          </a:solidFill>
          <a:ln w="19050">
            <a:solidFill>
              <a:srgbClr val="162A3A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">
              <a:latin typeface="Times New Roman"/>
              <a:cs typeface="Times New Roman"/>
            </a:endParaRPr>
          </a:p>
          <a:p>
            <a:pPr algn="ctr" marL="5715">
              <a:lnSpc>
                <a:spcPct val="100000"/>
              </a:lnSpc>
            </a:pPr>
            <a:r>
              <a:rPr dirty="0" sz="1150" spc="120">
                <a:latin typeface="Times New Roman"/>
                <a:cs typeface="Times New Roman"/>
              </a:rPr>
              <a:t>Agente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120">
                <a:latin typeface="Times New Roman"/>
                <a:cs typeface="Times New Roman"/>
              </a:rPr>
              <a:t>de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150" spc="105">
                <a:latin typeface="Times New Roman"/>
                <a:cs typeface="Times New Roman"/>
              </a:rPr>
              <a:t>Estruturação</a:t>
            </a:r>
            <a:endParaRPr sz="115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029075" y="3314700"/>
            <a:ext cx="4143375" cy="1295400"/>
            <a:chOff x="4029075" y="3314700"/>
            <a:chExt cx="4143375" cy="1295400"/>
          </a:xfrm>
        </p:grpSpPr>
        <p:sp>
          <p:nvSpPr>
            <p:cNvPr id="11" name="object 11"/>
            <p:cNvSpPr/>
            <p:nvPr/>
          </p:nvSpPr>
          <p:spPr>
            <a:xfrm>
              <a:off x="4029075" y="3314700"/>
              <a:ext cx="4143375" cy="1295400"/>
            </a:xfrm>
            <a:custGeom>
              <a:avLst/>
              <a:gdLst/>
              <a:ahLst/>
              <a:cxnLst/>
              <a:rect l="l" t="t" r="r" b="b"/>
              <a:pathLst>
                <a:path w="4143375" h="1295400">
                  <a:moveTo>
                    <a:pt x="4143375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4143375" y="1295400"/>
                  </a:lnTo>
                  <a:lnTo>
                    <a:pt x="4143375" y="0"/>
                  </a:lnTo>
                  <a:close/>
                </a:path>
              </a:pathLst>
            </a:custGeom>
            <a:solidFill>
              <a:srgbClr val="162A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029075" y="4572000"/>
              <a:ext cx="4143375" cy="38100"/>
            </a:xfrm>
            <a:custGeom>
              <a:avLst/>
              <a:gdLst/>
              <a:ahLst/>
              <a:cxnLst/>
              <a:rect l="l" t="t" r="r" b="b"/>
              <a:pathLst>
                <a:path w="4143375" h="38100">
                  <a:moveTo>
                    <a:pt x="4143375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4143375" y="38100"/>
                  </a:lnTo>
                  <a:lnTo>
                    <a:pt x="4143375" y="0"/>
                  </a:lnTo>
                  <a:close/>
                </a:path>
              </a:pathLst>
            </a:custGeom>
            <a:solidFill>
              <a:srgbClr val="D4993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4029075" y="3487424"/>
            <a:ext cx="4143375" cy="84709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850" spc="10">
                <a:solidFill>
                  <a:srgbClr val="D49930"/>
                </a:solidFill>
                <a:latin typeface="Times New Roman"/>
                <a:cs typeface="Times New Roman"/>
              </a:rPr>
              <a:t>NÚCLEO</a:t>
            </a:r>
            <a:r>
              <a:rPr dirty="0" sz="850" spc="160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850" spc="-10">
                <a:solidFill>
                  <a:srgbClr val="D49930"/>
                </a:solidFill>
                <a:latin typeface="Times New Roman"/>
                <a:cs typeface="Times New Roman"/>
              </a:rPr>
              <a:t>HÍBRIDO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100">
              <a:latin typeface="Times New Roman"/>
              <a:cs typeface="Times New Roman"/>
            </a:endParaRPr>
          </a:p>
          <a:p>
            <a:pPr algn="ctr" marR="6350">
              <a:lnSpc>
                <a:spcPct val="100000"/>
              </a:lnSpc>
            </a:pPr>
            <a:r>
              <a:rPr dirty="0" sz="1750">
                <a:solidFill>
                  <a:srgbClr val="F9F8F4"/>
                </a:solidFill>
                <a:latin typeface="Times New Roman"/>
                <a:cs typeface="Times New Roman"/>
              </a:rPr>
              <a:t>IA</a:t>
            </a:r>
            <a:r>
              <a:rPr dirty="0" sz="1750" spc="25">
                <a:solidFill>
                  <a:srgbClr val="F9F8F4"/>
                </a:solidFill>
                <a:latin typeface="Times New Roman"/>
                <a:cs typeface="Times New Roman"/>
              </a:rPr>
              <a:t> </a:t>
            </a:r>
            <a:r>
              <a:rPr dirty="0" sz="1750" spc="165">
                <a:solidFill>
                  <a:srgbClr val="F9F8F4"/>
                </a:solidFill>
                <a:latin typeface="Times New Roman"/>
                <a:cs typeface="Times New Roman"/>
              </a:rPr>
              <a:t>Generativa</a:t>
            </a:r>
            <a:r>
              <a:rPr dirty="0" sz="1750" spc="85">
                <a:solidFill>
                  <a:srgbClr val="F9F8F4"/>
                </a:solidFill>
                <a:latin typeface="Times New Roman"/>
                <a:cs typeface="Times New Roman"/>
              </a:rPr>
              <a:t> </a:t>
            </a:r>
            <a:r>
              <a:rPr dirty="0" sz="900" spc="560">
                <a:solidFill>
                  <a:srgbClr val="F9F8F4"/>
                </a:solidFill>
                <a:latin typeface="Times New Roman"/>
                <a:cs typeface="Times New Roman"/>
              </a:rPr>
              <a:t>+</a:t>
            </a:r>
            <a:r>
              <a:rPr dirty="0" sz="900" spc="365">
                <a:solidFill>
                  <a:srgbClr val="F9F8F4"/>
                </a:solidFill>
                <a:latin typeface="Times New Roman"/>
                <a:cs typeface="Times New Roman"/>
              </a:rPr>
              <a:t> </a:t>
            </a:r>
            <a:r>
              <a:rPr dirty="0" sz="1750" spc="175">
                <a:solidFill>
                  <a:srgbClr val="F9F8F4"/>
                </a:solidFill>
                <a:latin typeface="Times New Roman"/>
                <a:cs typeface="Times New Roman"/>
              </a:rPr>
              <a:t>Regras</a:t>
            </a:r>
            <a:r>
              <a:rPr dirty="0" sz="1750" spc="100">
                <a:solidFill>
                  <a:srgbClr val="F9F8F4"/>
                </a:solidFill>
                <a:latin typeface="Times New Roman"/>
                <a:cs typeface="Times New Roman"/>
              </a:rPr>
              <a:t> </a:t>
            </a:r>
            <a:r>
              <a:rPr dirty="0" sz="1750" spc="125">
                <a:solidFill>
                  <a:srgbClr val="F9F8F4"/>
                </a:solidFill>
                <a:latin typeface="Times New Roman"/>
                <a:cs typeface="Times New Roman"/>
              </a:rPr>
              <a:t>Auditáveis</a:t>
            </a:r>
            <a:endParaRPr sz="17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00" spc="55">
                <a:solidFill>
                  <a:srgbClr val="FAF9F6"/>
                </a:solidFill>
                <a:latin typeface="Times New Roman"/>
                <a:cs typeface="Times New Roman"/>
              </a:rPr>
              <a:t>Validação</a:t>
            </a:r>
            <a:r>
              <a:rPr dirty="0" sz="1000" spc="40">
                <a:solidFill>
                  <a:srgbClr val="FAF9F6"/>
                </a:solidFill>
                <a:latin typeface="Times New Roman"/>
                <a:cs typeface="Times New Roman"/>
              </a:rPr>
              <a:t> </a:t>
            </a:r>
            <a:r>
              <a:rPr dirty="0" sz="1000" spc="120">
                <a:solidFill>
                  <a:srgbClr val="FAF9F6"/>
                </a:solidFill>
                <a:latin typeface="Times New Roman"/>
                <a:cs typeface="Times New Roman"/>
              </a:rPr>
              <a:t>em</a:t>
            </a:r>
            <a:r>
              <a:rPr dirty="0" sz="1000" spc="60">
                <a:solidFill>
                  <a:srgbClr val="FAF9F6"/>
                </a:solidFill>
                <a:latin typeface="Times New Roman"/>
                <a:cs typeface="Times New Roman"/>
              </a:rPr>
              <a:t> </a:t>
            </a:r>
            <a:r>
              <a:rPr dirty="0" sz="1000" spc="130">
                <a:solidFill>
                  <a:srgbClr val="FAF9F6"/>
                </a:solidFill>
                <a:latin typeface="Times New Roman"/>
                <a:cs typeface="Times New Roman"/>
              </a:rPr>
              <a:t>tempo</a:t>
            </a:r>
            <a:r>
              <a:rPr dirty="0" sz="1000" spc="45">
                <a:solidFill>
                  <a:srgbClr val="FAF9F6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AF9F6"/>
                </a:solidFill>
                <a:latin typeface="Times New Roman"/>
                <a:cs typeface="Times New Roman"/>
              </a:rPr>
              <a:t>real</a:t>
            </a:r>
            <a:r>
              <a:rPr dirty="0" sz="1000" spc="120">
                <a:solidFill>
                  <a:srgbClr val="FAF9F6"/>
                </a:solidFill>
                <a:latin typeface="Times New Roman"/>
                <a:cs typeface="Times New Roman"/>
              </a:rPr>
              <a:t> </a:t>
            </a:r>
            <a:r>
              <a:rPr dirty="0" sz="1000" spc="110">
                <a:solidFill>
                  <a:srgbClr val="FAF9F6"/>
                </a:solidFill>
                <a:latin typeface="Times New Roman"/>
                <a:cs typeface="Times New Roman"/>
              </a:rPr>
              <a:t>com</a:t>
            </a:r>
            <a:r>
              <a:rPr dirty="0" sz="1000" spc="60">
                <a:solidFill>
                  <a:srgbClr val="FAF9F6"/>
                </a:solidFill>
                <a:latin typeface="Times New Roman"/>
                <a:cs typeface="Times New Roman"/>
              </a:rPr>
              <a:t> </a:t>
            </a:r>
            <a:r>
              <a:rPr dirty="0" sz="1000" spc="55">
                <a:solidFill>
                  <a:srgbClr val="FAF9F6"/>
                </a:solidFill>
                <a:latin typeface="Times New Roman"/>
                <a:cs typeface="Times New Roman"/>
              </a:rPr>
              <a:t>fallback</a:t>
            </a:r>
            <a:r>
              <a:rPr dirty="0" sz="1000" spc="65">
                <a:solidFill>
                  <a:srgbClr val="FAF9F6"/>
                </a:solidFill>
                <a:latin typeface="Times New Roman"/>
                <a:cs typeface="Times New Roman"/>
              </a:rPr>
              <a:t> determinístico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402887" y="5221733"/>
            <a:ext cx="570865" cy="1568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-10">
                <a:solidFill>
                  <a:srgbClr val="D49930"/>
                </a:solidFill>
                <a:latin typeface="Times New Roman"/>
                <a:cs typeface="Times New Roman"/>
              </a:rPr>
              <a:t>ENTREGA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77912" y="5336033"/>
            <a:ext cx="856615" cy="1568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50" spc="50">
                <a:solidFill>
                  <a:srgbClr val="D49930"/>
                </a:solidFill>
                <a:latin typeface="Times New Roman"/>
                <a:cs typeface="Times New Roman"/>
              </a:rPr>
              <a:t>PERSISTÊNCIA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6725" y="5610225"/>
            <a:ext cx="2076450" cy="628650"/>
          </a:xfrm>
          <a:prstGeom prst="rect">
            <a:avLst/>
          </a:prstGeom>
          <a:solidFill>
            <a:srgbClr val="F0EFE9"/>
          </a:solidFill>
          <a:ln w="19050">
            <a:solidFill>
              <a:srgbClr val="162A3A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">
              <a:latin typeface="Times New Roman"/>
              <a:cs typeface="Times New Roman"/>
            </a:endParaRPr>
          </a:p>
          <a:p>
            <a:pPr marL="585470">
              <a:lnSpc>
                <a:spcPct val="100000"/>
              </a:lnSpc>
            </a:pPr>
            <a:r>
              <a:rPr dirty="0" sz="1150" spc="80">
                <a:latin typeface="Times New Roman"/>
                <a:cs typeface="Times New Roman"/>
              </a:rPr>
              <a:t>SQLite</a:t>
            </a:r>
            <a:r>
              <a:rPr dirty="0" sz="1150" spc="-30">
                <a:latin typeface="Times New Roman"/>
                <a:cs typeface="Times New Roman"/>
              </a:rPr>
              <a:t> </a:t>
            </a:r>
            <a:r>
              <a:rPr dirty="0" sz="1150" spc="-10">
                <a:latin typeface="Times New Roman"/>
                <a:cs typeface="Times New Roman"/>
              </a:rPr>
              <a:t>Local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092450" y="5711825"/>
            <a:ext cx="605726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55665" algn="l"/>
              </a:tabLst>
            </a:pPr>
            <a:r>
              <a:rPr dirty="0" sz="900" strike="sngStrike">
                <a:solidFill>
                  <a:srgbClr val="D49930"/>
                </a:solidFill>
                <a:latin typeface="Times New Roman"/>
                <a:cs typeface="Times New Roman"/>
              </a:rPr>
              <a:t>	</a:t>
            </a:r>
            <a:r>
              <a:rPr dirty="0" sz="900" spc="-50" strike="sngStrike">
                <a:solidFill>
                  <a:srgbClr val="D49930"/>
                </a:solidFill>
                <a:latin typeface="Lucida Sans Unicode"/>
                <a:cs typeface="Lucida Sans Unicode"/>
              </a:rPr>
              <a:t>▶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648825" y="5495925"/>
            <a:ext cx="2076450" cy="857250"/>
          </a:xfrm>
          <a:custGeom>
            <a:avLst/>
            <a:gdLst/>
            <a:ahLst/>
            <a:cxnLst/>
            <a:rect l="l" t="t" r="r" b="b"/>
            <a:pathLst>
              <a:path w="2076450" h="857250">
                <a:moveTo>
                  <a:pt x="0" y="857250"/>
                </a:moveTo>
                <a:lnTo>
                  <a:pt x="2076450" y="857250"/>
                </a:lnTo>
                <a:lnTo>
                  <a:pt x="2076450" y="0"/>
                </a:lnTo>
                <a:lnTo>
                  <a:pt x="0" y="0"/>
                </a:lnTo>
                <a:lnTo>
                  <a:pt x="0" y="857250"/>
                </a:lnTo>
                <a:close/>
              </a:path>
            </a:pathLst>
          </a:custGeom>
          <a:ln w="19050">
            <a:solidFill>
              <a:srgbClr val="162A3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9639300" y="5486400"/>
            <a:ext cx="2095500" cy="876300"/>
          </a:xfrm>
          <a:prstGeom prst="rect">
            <a:avLst/>
          </a:prstGeom>
          <a:solidFill>
            <a:srgbClr val="F0EFE9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">
              <a:latin typeface="Times New Roman"/>
              <a:cs typeface="Times New Roman"/>
            </a:endParaRPr>
          </a:p>
          <a:p>
            <a:pPr algn="ctr" marL="5715">
              <a:lnSpc>
                <a:spcPct val="100000"/>
              </a:lnSpc>
            </a:pPr>
            <a:r>
              <a:rPr dirty="0" sz="1150" spc="120">
                <a:latin typeface="Times New Roman"/>
                <a:cs typeface="Times New Roman"/>
              </a:rPr>
              <a:t>Agente</a:t>
            </a:r>
            <a:r>
              <a:rPr dirty="0" sz="1150" spc="-10">
                <a:latin typeface="Times New Roman"/>
                <a:cs typeface="Times New Roman"/>
              </a:rPr>
              <a:t> </a:t>
            </a:r>
            <a:r>
              <a:rPr dirty="0" sz="1150" spc="120">
                <a:latin typeface="Times New Roman"/>
                <a:cs typeface="Times New Roman"/>
              </a:rPr>
              <a:t>de</a:t>
            </a: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150" spc="110">
                <a:latin typeface="Times New Roman"/>
                <a:cs typeface="Times New Roman"/>
              </a:rPr>
              <a:t>Comparação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6343650"/>
            <a:ext cx="12192000" cy="19050"/>
          </a:xfrm>
          <a:custGeom>
            <a:avLst/>
            <a:gdLst/>
            <a:ahLst/>
            <a:cxnLst/>
            <a:rect l="l" t="t" r="r" b="b"/>
            <a:pathLst>
              <a:path w="12192000" h="19050">
                <a:moveTo>
                  <a:pt x="12192000" y="0"/>
                </a:moveTo>
                <a:lnTo>
                  <a:pt x="0" y="0"/>
                </a:lnTo>
                <a:lnTo>
                  <a:pt x="0" y="19050"/>
                </a:lnTo>
                <a:lnTo>
                  <a:pt x="12192000" y="1905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499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44500" y="6479681"/>
            <a:ext cx="307975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114">
                <a:solidFill>
                  <a:srgbClr val="727E87"/>
                </a:solidFill>
                <a:latin typeface="Times New Roman"/>
                <a:cs typeface="Times New Roman"/>
              </a:rPr>
              <a:t>Stack</a:t>
            </a:r>
            <a:r>
              <a:rPr dirty="0" sz="550" spc="114">
                <a:solidFill>
                  <a:srgbClr val="727E87"/>
                </a:solidFill>
                <a:latin typeface="Times New Roman"/>
                <a:cs typeface="Times New Roman"/>
              </a:rPr>
              <a:t>:</a:t>
            </a:r>
            <a:r>
              <a:rPr dirty="0" sz="550" spc="275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80">
                <a:solidFill>
                  <a:srgbClr val="727E87"/>
                </a:solidFill>
                <a:latin typeface="Times New Roman"/>
                <a:cs typeface="Times New Roman"/>
              </a:rPr>
              <a:t>Flask</a:t>
            </a:r>
            <a:r>
              <a:rPr dirty="0" sz="1000" spc="85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550">
                <a:solidFill>
                  <a:srgbClr val="727E87"/>
                </a:solidFill>
                <a:latin typeface="Times New Roman"/>
                <a:cs typeface="Times New Roman"/>
              </a:rPr>
              <a:t>·</a:t>
            </a:r>
            <a:r>
              <a:rPr dirty="0" sz="550" spc="28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105">
                <a:solidFill>
                  <a:srgbClr val="727E87"/>
                </a:solidFill>
                <a:latin typeface="Times New Roman"/>
                <a:cs typeface="Times New Roman"/>
              </a:rPr>
              <a:t>PyMuPDF</a:t>
            </a:r>
            <a:r>
              <a:rPr dirty="0" sz="1000" spc="85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550">
                <a:solidFill>
                  <a:srgbClr val="727E87"/>
                </a:solidFill>
                <a:latin typeface="Times New Roman"/>
                <a:cs typeface="Times New Roman"/>
              </a:rPr>
              <a:t>·</a:t>
            </a:r>
            <a:r>
              <a:rPr dirty="0" sz="550" spc="28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75">
                <a:solidFill>
                  <a:srgbClr val="727E87"/>
                </a:solidFill>
                <a:latin typeface="Times New Roman"/>
                <a:cs typeface="Times New Roman"/>
              </a:rPr>
              <a:t>Tesseract</a:t>
            </a:r>
            <a:r>
              <a:rPr dirty="0" sz="1000" spc="12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550">
                <a:solidFill>
                  <a:srgbClr val="727E87"/>
                </a:solidFill>
                <a:latin typeface="Times New Roman"/>
                <a:cs typeface="Times New Roman"/>
              </a:rPr>
              <a:t>·</a:t>
            </a:r>
            <a:r>
              <a:rPr dirty="0" sz="550" spc="275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727E87"/>
                </a:solidFill>
                <a:latin typeface="Times New Roman"/>
                <a:cs typeface="Times New Roman"/>
              </a:rPr>
              <a:t>OpenAI</a:t>
            </a:r>
            <a:r>
              <a:rPr dirty="0" sz="1000" spc="21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727E87"/>
                </a:solidFill>
                <a:latin typeface="Times New Roman"/>
                <a:cs typeface="Times New Roman"/>
              </a:rPr>
              <a:t>API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020845" y="6479999"/>
            <a:ext cx="17164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50">
                <a:solidFill>
                  <a:srgbClr val="727E87"/>
                </a:solidFill>
                <a:latin typeface="Times New Roman"/>
                <a:cs typeface="Times New Roman"/>
              </a:rPr>
              <a:t>AU</a:t>
            </a:r>
            <a:r>
              <a:rPr dirty="0" sz="1000" spc="-155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100">
                <a:solidFill>
                  <a:srgbClr val="727E87"/>
                </a:solidFill>
                <a:latin typeface="Times New Roman"/>
                <a:cs typeface="Times New Roman"/>
              </a:rPr>
              <a:t>TO</a:t>
            </a:r>
            <a:r>
              <a:rPr dirty="0" sz="1000" spc="-14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727E87"/>
                </a:solidFill>
                <a:latin typeface="Times New Roman"/>
                <a:cs typeface="Times New Roman"/>
              </a:rPr>
              <a:t>RI</a:t>
            </a:r>
            <a:r>
              <a:rPr dirty="0" sz="1000" spc="-7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114">
                <a:solidFill>
                  <a:srgbClr val="727E87"/>
                </a:solidFill>
                <a:latin typeface="Times New Roman"/>
                <a:cs typeface="Times New Roman"/>
              </a:rPr>
              <a:t>A</a:t>
            </a:r>
            <a:r>
              <a:rPr dirty="0" sz="550" spc="114">
                <a:solidFill>
                  <a:srgbClr val="727E87"/>
                </a:solidFill>
                <a:latin typeface="Times New Roman"/>
                <a:cs typeface="Times New Roman"/>
              </a:rPr>
              <a:t>:</a:t>
            </a:r>
            <a:r>
              <a:rPr dirty="0" sz="550" spc="42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114">
                <a:solidFill>
                  <a:srgbClr val="727E87"/>
                </a:solidFill>
                <a:latin typeface="Times New Roman"/>
                <a:cs typeface="Times New Roman"/>
              </a:rPr>
              <a:t>CU</a:t>
            </a:r>
            <a:r>
              <a:rPr dirty="0" sz="1000" spc="-15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727E87"/>
                </a:solidFill>
                <a:latin typeface="Times New Roman"/>
                <a:cs typeface="Times New Roman"/>
              </a:rPr>
              <a:t>RI</a:t>
            </a:r>
            <a:r>
              <a:rPr dirty="0" sz="1000" spc="-7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727E87"/>
                </a:solidFill>
                <a:latin typeface="Times New Roman"/>
                <a:cs typeface="Times New Roman"/>
              </a:rPr>
              <a:t>É</a:t>
            </a:r>
            <a:r>
              <a:rPr dirty="0" sz="1000" spc="25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45">
                <a:solidFill>
                  <a:srgbClr val="727E87"/>
                </a:solidFill>
                <a:latin typeface="Times New Roman"/>
                <a:cs typeface="Times New Roman"/>
              </a:rPr>
              <a:t>EDGE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150" spc="65" i="0">
                <a:solidFill>
                  <a:srgbClr val="162A3A"/>
                </a:solidFill>
                <a:latin typeface="Cambria"/>
                <a:cs typeface="Cambria"/>
              </a:rPr>
              <a:t>IA</a:t>
            </a:r>
            <a:r>
              <a:rPr dirty="0" sz="3150" spc="45" i="0">
                <a:solidFill>
                  <a:srgbClr val="162A3A"/>
                </a:solidFill>
                <a:latin typeface="Cambria"/>
                <a:cs typeface="Cambria"/>
              </a:rPr>
              <a:t> </a:t>
            </a:r>
            <a:r>
              <a:rPr dirty="0" sz="3150" i="0">
                <a:solidFill>
                  <a:srgbClr val="162A3A"/>
                </a:solidFill>
                <a:latin typeface="Cambria"/>
                <a:cs typeface="Cambria"/>
              </a:rPr>
              <a:t>com</a:t>
            </a:r>
            <a:r>
              <a:rPr dirty="0" sz="3150" spc="50" i="0">
                <a:solidFill>
                  <a:srgbClr val="162A3A"/>
                </a:solidFill>
                <a:latin typeface="Cambria"/>
                <a:cs typeface="Cambria"/>
              </a:rPr>
              <a:t> </a:t>
            </a:r>
            <a:r>
              <a:rPr dirty="0" spc="-30"/>
              <a:t>Transparência</a:t>
            </a:r>
            <a:r>
              <a:rPr dirty="0" spc="45"/>
              <a:t> </a:t>
            </a:r>
            <a:r>
              <a:rPr dirty="0" spc="505"/>
              <a:t>&amp;</a:t>
            </a:r>
            <a:r>
              <a:rPr dirty="0" spc="45"/>
              <a:t> </a:t>
            </a:r>
            <a:r>
              <a:rPr dirty="0" spc="-10"/>
              <a:t>Fallback</a:t>
            </a:r>
            <a:endParaRPr sz="315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50475" y="463047"/>
            <a:ext cx="158242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150">
                <a:solidFill>
                  <a:srgbClr val="162A3A"/>
                </a:solidFill>
                <a:latin typeface="Times New Roman"/>
                <a:cs typeface="Times New Roman"/>
              </a:rPr>
              <a:t>I</a:t>
            </a:r>
            <a:r>
              <a:rPr dirty="0" sz="1400" spc="-7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400" spc="60">
                <a:solidFill>
                  <a:srgbClr val="162A3A"/>
                </a:solidFill>
                <a:latin typeface="Times New Roman"/>
                <a:cs typeface="Times New Roman"/>
              </a:rPr>
              <a:t>N</a:t>
            </a:r>
            <a:r>
              <a:rPr dirty="0" sz="1400" spc="-20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400" spc="190">
                <a:solidFill>
                  <a:srgbClr val="162A3A"/>
                </a:solidFill>
                <a:latin typeface="Times New Roman"/>
                <a:cs typeface="Times New Roman"/>
              </a:rPr>
              <a:t>TE</a:t>
            </a:r>
            <a:r>
              <a:rPr dirty="0" sz="1400" spc="-19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162A3A"/>
                </a:solidFill>
                <a:latin typeface="Times New Roman"/>
                <a:cs typeface="Times New Roman"/>
              </a:rPr>
              <a:t>LI</a:t>
            </a:r>
            <a:r>
              <a:rPr dirty="0" sz="1400" spc="-7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400" spc="140">
                <a:solidFill>
                  <a:srgbClr val="162A3A"/>
                </a:solidFill>
                <a:latin typeface="Times New Roman"/>
                <a:cs typeface="Times New Roman"/>
              </a:rPr>
              <a:t>GÊ</a:t>
            </a:r>
            <a:r>
              <a:rPr dirty="0" sz="1400" spc="-19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400" spc="60">
                <a:solidFill>
                  <a:srgbClr val="162A3A"/>
                </a:solidFill>
                <a:latin typeface="Times New Roman"/>
                <a:cs typeface="Times New Roman"/>
              </a:rPr>
              <a:t>N</a:t>
            </a:r>
            <a:r>
              <a:rPr dirty="0" sz="1400" spc="-20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400" spc="95">
                <a:solidFill>
                  <a:srgbClr val="162A3A"/>
                </a:solidFill>
                <a:latin typeface="Times New Roman"/>
                <a:cs typeface="Times New Roman"/>
              </a:rPr>
              <a:t>CI</a:t>
            </a:r>
            <a:r>
              <a:rPr dirty="0" sz="1400" spc="-6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400" spc="50">
                <a:solidFill>
                  <a:srgbClr val="162A3A"/>
                </a:solidFill>
                <a:latin typeface="Times New Roman"/>
                <a:cs typeface="Times New Roman"/>
              </a:rPr>
              <a:t>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4500" y="1517376"/>
            <a:ext cx="230187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162A3A"/>
                </a:solidFill>
                <a:latin typeface="Times New Roman"/>
                <a:cs typeface="Times New Roman"/>
              </a:rPr>
              <a:t>INPUT</a:t>
            </a:r>
            <a:r>
              <a:rPr dirty="0" sz="950">
                <a:solidFill>
                  <a:srgbClr val="162A3A"/>
                </a:solidFill>
                <a:latin typeface="Times New Roman"/>
                <a:cs typeface="Times New Roman"/>
              </a:rPr>
              <a:t>:</a:t>
            </a:r>
            <a:r>
              <a:rPr dirty="0" sz="950" spc="19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162A3A"/>
                </a:solidFill>
                <a:latin typeface="Times New Roman"/>
                <a:cs typeface="Times New Roman"/>
              </a:rPr>
              <a:t>TEXTO</a:t>
            </a:r>
            <a:r>
              <a:rPr dirty="0" sz="1000" spc="14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162A3A"/>
                </a:solidFill>
                <a:latin typeface="Times New Roman"/>
                <a:cs typeface="Times New Roman"/>
              </a:rPr>
              <a:t>NÃO</a:t>
            </a:r>
            <a:r>
              <a:rPr dirty="0" sz="1000" spc="13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162A3A"/>
                </a:solidFill>
                <a:latin typeface="Times New Roman"/>
                <a:cs typeface="Times New Roman"/>
              </a:rPr>
              <a:t>ESTRUTURADO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30975" y="1517376"/>
            <a:ext cx="287655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10">
                <a:solidFill>
                  <a:srgbClr val="162A3A"/>
                </a:solidFill>
                <a:latin typeface="Times New Roman"/>
                <a:cs typeface="Times New Roman"/>
              </a:rPr>
              <a:t>OUTPUT</a:t>
            </a:r>
            <a:r>
              <a:rPr dirty="0" sz="950" spc="10">
                <a:solidFill>
                  <a:srgbClr val="162A3A"/>
                </a:solidFill>
                <a:latin typeface="Times New Roman"/>
                <a:cs typeface="Times New Roman"/>
              </a:rPr>
              <a:t>:</a:t>
            </a:r>
            <a:r>
              <a:rPr dirty="0" sz="950" spc="26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000" spc="125">
                <a:solidFill>
                  <a:srgbClr val="162A3A"/>
                </a:solidFill>
                <a:latin typeface="Times New Roman"/>
                <a:cs typeface="Times New Roman"/>
              </a:rPr>
              <a:t>JSON</a:t>
            </a:r>
            <a:r>
              <a:rPr dirty="0" sz="1000" spc="26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000" spc="10">
                <a:solidFill>
                  <a:srgbClr val="162A3A"/>
                </a:solidFill>
                <a:latin typeface="Times New Roman"/>
                <a:cs typeface="Times New Roman"/>
              </a:rPr>
              <a:t>ESTRUTURADO</a:t>
            </a:r>
            <a:r>
              <a:rPr dirty="0" sz="1000" spc="204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950" spc="-10">
                <a:solidFill>
                  <a:srgbClr val="162A3A"/>
                </a:solidFill>
                <a:latin typeface="Times New Roman"/>
                <a:cs typeface="Times New Roman"/>
              </a:rPr>
              <a:t>(</a:t>
            </a:r>
            <a:r>
              <a:rPr dirty="0" sz="1000" spc="-10">
                <a:solidFill>
                  <a:srgbClr val="162A3A"/>
                </a:solidFill>
                <a:latin typeface="Times New Roman"/>
                <a:cs typeface="Times New Roman"/>
              </a:rPr>
              <a:t>IA</a:t>
            </a:r>
            <a:r>
              <a:rPr dirty="0" sz="950" spc="-10">
                <a:solidFill>
                  <a:srgbClr val="162A3A"/>
                </a:solidFill>
                <a:latin typeface="Times New Roman"/>
                <a:cs typeface="Times New Roman"/>
              </a:rPr>
              <a:t>/</a:t>
            </a:r>
            <a:r>
              <a:rPr dirty="0" sz="1000" spc="-10">
                <a:solidFill>
                  <a:srgbClr val="162A3A"/>
                </a:solidFill>
                <a:latin typeface="Times New Roman"/>
                <a:cs typeface="Times New Roman"/>
              </a:rPr>
              <a:t>REGRAS</a:t>
            </a:r>
            <a:r>
              <a:rPr dirty="0" sz="950" spc="-10">
                <a:solidFill>
                  <a:srgbClr val="162A3A"/>
                </a:solidFill>
                <a:latin typeface="Times New Roman"/>
                <a:cs typeface="Times New Roman"/>
              </a:rPr>
              <a:t>)</a:t>
            </a:r>
            <a:endParaRPr sz="9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1962" y="1824037"/>
            <a:ext cx="5181600" cy="3276600"/>
          </a:xfrm>
          <a:prstGeom prst="rect">
            <a:avLst/>
          </a:prstGeom>
          <a:solidFill>
            <a:srgbClr val="F0EFE9"/>
          </a:solidFill>
          <a:ln w="9525">
            <a:solidFill>
              <a:srgbClr val="162A3A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0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</a:pPr>
            <a:r>
              <a:rPr dirty="0" sz="1300" spc="-95">
                <a:solidFill>
                  <a:srgbClr val="162A3A"/>
                </a:solidFill>
                <a:latin typeface="Times New Roman"/>
                <a:cs typeface="Times New Roman"/>
              </a:rPr>
              <a:t>APÓLICE</a:t>
            </a:r>
            <a:r>
              <a:rPr dirty="0" sz="1050" spc="-95">
                <a:solidFill>
                  <a:srgbClr val="162A3A"/>
                </a:solidFill>
                <a:latin typeface="Times New Roman"/>
                <a:cs typeface="Times New Roman"/>
              </a:rPr>
              <a:t>t</a:t>
            </a:r>
            <a:r>
              <a:rPr dirty="0" sz="1050" spc="2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162A3A"/>
                </a:solidFill>
                <a:latin typeface="Times New Roman"/>
                <a:cs typeface="Times New Roman"/>
              </a:rPr>
              <a:t>Norte</a:t>
            </a:r>
            <a:r>
              <a:rPr dirty="0" sz="1300" spc="-4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-105">
                <a:solidFill>
                  <a:srgbClr val="162A3A"/>
                </a:solidFill>
                <a:latin typeface="Times New Roman"/>
                <a:cs typeface="Times New Roman"/>
              </a:rPr>
              <a:t>D</a:t>
            </a:r>
            <a:r>
              <a:rPr dirty="0" sz="1050" spc="-105">
                <a:solidFill>
                  <a:srgbClr val="162A3A"/>
                </a:solidFill>
                <a:latin typeface="Times New Roman"/>
                <a:cs typeface="Times New Roman"/>
              </a:rPr>
              <a:t>&amp;</a:t>
            </a:r>
            <a:r>
              <a:rPr dirty="0" sz="1300" spc="-105">
                <a:solidFill>
                  <a:srgbClr val="162A3A"/>
                </a:solidFill>
                <a:latin typeface="Times New Roman"/>
                <a:cs typeface="Times New Roman"/>
              </a:rPr>
              <a:t>O</a:t>
            </a:r>
            <a:r>
              <a:rPr dirty="0" sz="1300" spc="-7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050" spc="125">
                <a:solidFill>
                  <a:srgbClr val="162A3A"/>
                </a:solidFill>
                <a:latin typeface="Times New Roman"/>
                <a:cs typeface="Times New Roman"/>
              </a:rPr>
              <a:t>2026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</a:pPr>
            <a:r>
              <a:rPr dirty="0" sz="1300" spc="-110">
                <a:solidFill>
                  <a:srgbClr val="162A3A"/>
                </a:solidFill>
                <a:latin typeface="Times New Roman"/>
                <a:cs typeface="Times New Roman"/>
              </a:rPr>
              <a:t>SEGURADORA</a:t>
            </a:r>
            <a:r>
              <a:rPr dirty="0" sz="1050" spc="-110">
                <a:solidFill>
                  <a:srgbClr val="162A3A"/>
                </a:solidFill>
                <a:latin typeface="Times New Roman"/>
                <a:cs typeface="Times New Roman"/>
              </a:rPr>
              <a:t>t</a:t>
            </a:r>
            <a:r>
              <a:rPr dirty="0" sz="1050" spc="15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-25">
                <a:solidFill>
                  <a:srgbClr val="162A3A"/>
                </a:solidFill>
                <a:latin typeface="Times New Roman"/>
                <a:cs typeface="Times New Roman"/>
              </a:rPr>
              <a:t>Atlas</a:t>
            </a:r>
            <a:r>
              <a:rPr dirty="0" sz="1300" spc="5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62A3A"/>
                </a:solidFill>
                <a:latin typeface="Times New Roman"/>
                <a:cs typeface="Times New Roman"/>
              </a:rPr>
              <a:t>Seguros</a:t>
            </a:r>
            <a:r>
              <a:rPr dirty="0" sz="1300" spc="4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-20">
                <a:solidFill>
                  <a:srgbClr val="162A3A"/>
                </a:solidFill>
                <a:latin typeface="Times New Roman"/>
                <a:cs typeface="Times New Roman"/>
              </a:rPr>
              <a:t>S</a:t>
            </a:r>
            <a:r>
              <a:rPr dirty="0" sz="1050" spc="-20">
                <a:solidFill>
                  <a:srgbClr val="162A3A"/>
                </a:solidFill>
                <a:latin typeface="Times New Roman"/>
                <a:cs typeface="Times New Roman"/>
              </a:rPr>
              <a:t>.</a:t>
            </a:r>
            <a:r>
              <a:rPr dirty="0" sz="1300" spc="-20">
                <a:solidFill>
                  <a:srgbClr val="162A3A"/>
                </a:solidFill>
                <a:latin typeface="Times New Roman"/>
                <a:cs typeface="Times New Roman"/>
              </a:rPr>
              <a:t>A</a:t>
            </a:r>
            <a:r>
              <a:rPr dirty="0" sz="1050" spc="-20">
                <a:solidFill>
                  <a:srgbClr val="162A3A"/>
                </a:solidFill>
                <a:latin typeface="Times New Roman"/>
                <a:cs typeface="Times New Roman"/>
              </a:rPr>
              <a:t>.</a:t>
            </a:r>
            <a:endParaRPr sz="105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  <a:spcBef>
                <a:spcPts val="90"/>
              </a:spcBef>
            </a:pPr>
            <a:r>
              <a:rPr dirty="0" sz="1300" spc="-155">
                <a:solidFill>
                  <a:srgbClr val="162A3A"/>
                </a:solidFill>
                <a:latin typeface="Times New Roman"/>
                <a:cs typeface="Times New Roman"/>
              </a:rPr>
              <a:t>LIMITE</a:t>
            </a:r>
            <a:r>
              <a:rPr dirty="0" sz="1300" spc="3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-155">
                <a:solidFill>
                  <a:srgbClr val="162A3A"/>
                </a:solidFill>
                <a:latin typeface="Times New Roman"/>
                <a:cs typeface="Times New Roman"/>
              </a:rPr>
              <a:t>AGREGADO</a:t>
            </a:r>
            <a:r>
              <a:rPr dirty="0" sz="1050" spc="-155">
                <a:solidFill>
                  <a:srgbClr val="162A3A"/>
                </a:solidFill>
                <a:latin typeface="Times New Roman"/>
                <a:cs typeface="Times New Roman"/>
              </a:rPr>
              <a:t>t</a:t>
            </a:r>
            <a:r>
              <a:rPr dirty="0" sz="1050" spc="12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62A3A"/>
                </a:solidFill>
                <a:latin typeface="Times New Roman"/>
                <a:cs typeface="Times New Roman"/>
              </a:rPr>
              <a:t>R$</a:t>
            </a:r>
            <a:r>
              <a:rPr dirty="0" sz="1300" spc="4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050" spc="90">
                <a:solidFill>
                  <a:srgbClr val="162A3A"/>
                </a:solidFill>
                <a:latin typeface="Times New Roman"/>
                <a:cs typeface="Times New Roman"/>
              </a:rPr>
              <a:t>10.000.000,00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</a:pPr>
            <a:r>
              <a:rPr dirty="0" sz="1300" spc="-130">
                <a:solidFill>
                  <a:srgbClr val="162A3A"/>
                </a:solidFill>
                <a:latin typeface="Times New Roman"/>
                <a:cs typeface="Times New Roman"/>
              </a:rPr>
              <a:t>FRANQUIA</a:t>
            </a:r>
            <a:r>
              <a:rPr dirty="0" sz="1050" spc="-130">
                <a:solidFill>
                  <a:srgbClr val="162A3A"/>
                </a:solidFill>
                <a:latin typeface="Times New Roman"/>
                <a:cs typeface="Times New Roman"/>
              </a:rPr>
              <a:t>t</a:t>
            </a:r>
            <a:r>
              <a:rPr dirty="0" sz="1050" spc="10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162A3A"/>
                </a:solidFill>
                <a:latin typeface="Times New Roman"/>
                <a:cs typeface="Times New Roman"/>
              </a:rPr>
              <a:t>R$</a:t>
            </a:r>
            <a:r>
              <a:rPr dirty="0" sz="1300" spc="2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050" spc="110">
                <a:solidFill>
                  <a:srgbClr val="162A3A"/>
                </a:solidFill>
                <a:latin typeface="Times New Roman"/>
                <a:cs typeface="Times New Roman"/>
              </a:rPr>
              <a:t>250.000,00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0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</a:pPr>
            <a:r>
              <a:rPr dirty="0" sz="1050" spc="-25">
                <a:solidFill>
                  <a:srgbClr val="162A3A"/>
                </a:solidFill>
                <a:latin typeface="Times New Roman"/>
                <a:cs typeface="Times New Roman"/>
              </a:rPr>
              <a:t>...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</a:pPr>
            <a:r>
              <a:rPr dirty="0" sz="1050">
                <a:solidFill>
                  <a:srgbClr val="8A949C"/>
                </a:solidFill>
                <a:latin typeface="Times New Roman"/>
                <a:cs typeface="Times New Roman"/>
              </a:rPr>
              <a:t>"</a:t>
            </a:r>
            <a:r>
              <a:rPr dirty="0" sz="1300">
                <a:solidFill>
                  <a:srgbClr val="8A949C"/>
                </a:solidFill>
                <a:latin typeface="Times New Roman"/>
                <a:cs typeface="Times New Roman"/>
              </a:rPr>
              <a:t>Esta</a:t>
            </a:r>
            <a:r>
              <a:rPr dirty="0" sz="1300" spc="30">
                <a:solidFill>
                  <a:srgbClr val="8A949C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8A949C"/>
                </a:solidFill>
                <a:latin typeface="Times New Roman"/>
                <a:cs typeface="Times New Roman"/>
              </a:rPr>
              <a:t>apólice</a:t>
            </a:r>
            <a:r>
              <a:rPr dirty="0" sz="1300" spc="45">
                <a:solidFill>
                  <a:srgbClr val="8A949C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8A949C"/>
                </a:solidFill>
                <a:latin typeface="Times New Roman"/>
                <a:cs typeface="Times New Roman"/>
              </a:rPr>
              <a:t>cobre</a:t>
            </a:r>
            <a:r>
              <a:rPr dirty="0" sz="1300" spc="40">
                <a:solidFill>
                  <a:srgbClr val="8A949C"/>
                </a:solidFill>
                <a:latin typeface="Times New Roman"/>
                <a:cs typeface="Times New Roman"/>
              </a:rPr>
              <a:t> </a:t>
            </a:r>
            <a:r>
              <a:rPr dirty="0" sz="1300" spc="50">
                <a:solidFill>
                  <a:srgbClr val="8A949C"/>
                </a:solidFill>
                <a:latin typeface="Times New Roman"/>
                <a:cs typeface="Times New Roman"/>
              </a:rPr>
              <a:t>custos</a:t>
            </a:r>
            <a:r>
              <a:rPr dirty="0" sz="1300" spc="40">
                <a:solidFill>
                  <a:srgbClr val="8A949C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8A949C"/>
                </a:solidFill>
                <a:latin typeface="Times New Roman"/>
                <a:cs typeface="Times New Roman"/>
              </a:rPr>
              <a:t>de</a:t>
            </a:r>
            <a:r>
              <a:rPr dirty="0" sz="1300" spc="45">
                <a:solidFill>
                  <a:srgbClr val="8A949C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8A949C"/>
                </a:solidFill>
                <a:latin typeface="Times New Roman"/>
                <a:cs typeface="Times New Roman"/>
              </a:rPr>
              <a:t>defesa</a:t>
            </a:r>
            <a:r>
              <a:rPr dirty="0" sz="1300" spc="30">
                <a:solidFill>
                  <a:srgbClr val="8A949C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8A949C"/>
                </a:solidFill>
                <a:latin typeface="Times New Roman"/>
                <a:cs typeface="Times New Roman"/>
              </a:rPr>
              <a:t>e</a:t>
            </a:r>
            <a:r>
              <a:rPr dirty="0" sz="1300" spc="45">
                <a:solidFill>
                  <a:srgbClr val="8A949C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8A949C"/>
                </a:solidFill>
                <a:latin typeface="Times New Roman"/>
                <a:cs typeface="Times New Roman"/>
              </a:rPr>
              <a:t>investigações</a:t>
            </a:r>
            <a:r>
              <a:rPr dirty="0" sz="1300" spc="40">
                <a:solidFill>
                  <a:srgbClr val="8A949C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8A949C"/>
                </a:solidFill>
                <a:latin typeface="Times New Roman"/>
                <a:cs typeface="Times New Roman"/>
              </a:rPr>
              <a:t>regulatórias</a:t>
            </a:r>
            <a:r>
              <a:rPr dirty="0" sz="1050" spc="-10">
                <a:solidFill>
                  <a:srgbClr val="8A949C"/>
                </a:solidFill>
                <a:latin typeface="Times New Roman"/>
                <a:cs typeface="Times New Roman"/>
              </a:rPr>
              <a:t>,</a:t>
            </a: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00">
              <a:latin typeface="Times New Roman"/>
              <a:cs typeface="Times New Roman"/>
            </a:endParaRPr>
          </a:p>
          <a:p>
            <a:pPr marL="233045">
              <a:lnSpc>
                <a:spcPct val="100000"/>
              </a:lnSpc>
            </a:pPr>
            <a:r>
              <a:rPr dirty="0" sz="1300">
                <a:solidFill>
                  <a:srgbClr val="8A949C"/>
                </a:solidFill>
                <a:latin typeface="Times New Roman"/>
                <a:cs typeface="Times New Roman"/>
              </a:rPr>
              <a:t>mas</a:t>
            </a:r>
            <a:r>
              <a:rPr dirty="0" sz="1300" spc="30">
                <a:solidFill>
                  <a:srgbClr val="8A949C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8A949C"/>
                </a:solidFill>
                <a:latin typeface="Times New Roman"/>
                <a:cs typeface="Times New Roman"/>
              </a:rPr>
              <a:t>exclui</a:t>
            </a:r>
            <a:r>
              <a:rPr dirty="0" sz="1300" spc="114">
                <a:solidFill>
                  <a:srgbClr val="8A949C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8A949C"/>
                </a:solidFill>
                <a:latin typeface="Times New Roman"/>
                <a:cs typeface="Times New Roman"/>
              </a:rPr>
              <a:t>fraude</a:t>
            </a:r>
            <a:r>
              <a:rPr dirty="0" sz="1300" spc="35">
                <a:solidFill>
                  <a:srgbClr val="8A949C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8A949C"/>
                </a:solidFill>
                <a:latin typeface="Times New Roman"/>
                <a:cs typeface="Times New Roman"/>
              </a:rPr>
              <a:t>e</a:t>
            </a:r>
            <a:r>
              <a:rPr dirty="0" sz="1300" spc="40">
                <a:solidFill>
                  <a:srgbClr val="8A949C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8A949C"/>
                </a:solidFill>
                <a:latin typeface="Times New Roman"/>
                <a:cs typeface="Times New Roman"/>
              </a:rPr>
              <a:t>atos</a:t>
            </a:r>
            <a:r>
              <a:rPr dirty="0" sz="1300" spc="30">
                <a:solidFill>
                  <a:srgbClr val="8A949C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8A949C"/>
                </a:solidFill>
                <a:latin typeface="Times New Roman"/>
                <a:cs typeface="Times New Roman"/>
              </a:rPr>
              <a:t>dolosos</a:t>
            </a:r>
            <a:r>
              <a:rPr dirty="0" sz="1300" spc="35">
                <a:solidFill>
                  <a:srgbClr val="8A949C"/>
                </a:solidFill>
                <a:latin typeface="Times New Roman"/>
                <a:cs typeface="Times New Roman"/>
              </a:rPr>
              <a:t> </a:t>
            </a:r>
            <a:r>
              <a:rPr dirty="0" sz="1300" spc="-10">
                <a:solidFill>
                  <a:srgbClr val="8A949C"/>
                </a:solidFill>
                <a:latin typeface="Times New Roman"/>
                <a:cs typeface="Times New Roman"/>
              </a:rPr>
              <a:t>comprovados</a:t>
            </a:r>
            <a:r>
              <a:rPr dirty="0" sz="1050" spc="-10">
                <a:solidFill>
                  <a:srgbClr val="8A949C"/>
                </a:solidFill>
                <a:latin typeface="Times New Roman"/>
                <a:cs typeface="Times New Roman"/>
              </a:rPr>
              <a:t>..."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40425" y="3121025"/>
            <a:ext cx="311150" cy="368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50" spc="-50">
                <a:solidFill>
                  <a:srgbClr val="D49930"/>
                </a:solidFill>
                <a:latin typeface="Microsoft Sans Serif"/>
                <a:cs typeface="Microsoft Sans Serif"/>
              </a:rPr>
              <a:t>→</a:t>
            </a:r>
            <a:endParaRPr sz="2250">
              <a:latin typeface="Microsoft Sans Serif"/>
              <a:cs typeface="Microsoft Sans Serif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543675" y="1819275"/>
            <a:ext cx="5191125" cy="3286125"/>
            <a:chOff x="6543675" y="1819275"/>
            <a:chExt cx="5191125" cy="3286125"/>
          </a:xfrm>
        </p:grpSpPr>
        <p:sp>
          <p:nvSpPr>
            <p:cNvPr id="8" name="object 8"/>
            <p:cNvSpPr/>
            <p:nvPr/>
          </p:nvSpPr>
          <p:spPr>
            <a:xfrm>
              <a:off x="6543675" y="1819275"/>
              <a:ext cx="5191125" cy="3286125"/>
            </a:xfrm>
            <a:custGeom>
              <a:avLst/>
              <a:gdLst/>
              <a:ahLst/>
              <a:cxnLst/>
              <a:rect l="l" t="t" r="r" b="b"/>
              <a:pathLst>
                <a:path w="5191125" h="3286125">
                  <a:moveTo>
                    <a:pt x="5191125" y="0"/>
                  </a:moveTo>
                  <a:lnTo>
                    <a:pt x="0" y="0"/>
                  </a:lnTo>
                  <a:lnTo>
                    <a:pt x="0" y="3286125"/>
                  </a:lnTo>
                  <a:lnTo>
                    <a:pt x="5191125" y="3286125"/>
                  </a:lnTo>
                  <a:lnTo>
                    <a:pt x="5191125" y="0"/>
                  </a:lnTo>
                  <a:close/>
                </a:path>
              </a:pathLst>
            </a:custGeom>
            <a:solidFill>
              <a:srgbClr val="162A3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543675" y="1819275"/>
              <a:ext cx="38100" cy="3286125"/>
            </a:xfrm>
            <a:custGeom>
              <a:avLst/>
              <a:gdLst/>
              <a:ahLst/>
              <a:cxnLst/>
              <a:rect l="l" t="t" r="r" b="b"/>
              <a:pathLst>
                <a:path w="38100" h="3286125">
                  <a:moveTo>
                    <a:pt x="38100" y="0"/>
                  </a:moveTo>
                  <a:lnTo>
                    <a:pt x="0" y="0"/>
                  </a:lnTo>
                  <a:lnTo>
                    <a:pt x="0" y="3286125"/>
                  </a:lnTo>
                  <a:lnTo>
                    <a:pt x="38100" y="3286125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4993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581775" y="2004695"/>
            <a:ext cx="5153025" cy="1425575"/>
          </a:xfrm>
          <a:prstGeom prst="rect">
            <a:avLst/>
          </a:prstGeom>
        </p:spPr>
        <p:txBody>
          <a:bodyPr wrap="square" lIns="0" tIns="52704" rIns="0" bIns="0" rtlCol="0" vert="horz">
            <a:spAutoFit/>
          </a:bodyPr>
          <a:lstStyle/>
          <a:p>
            <a:pPr marL="227965">
              <a:lnSpc>
                <a:spcPct val="100000"/>
              </a:lnSpc>
              <a:spcBef>
                <a:spcPts val="414"/>
              </a:spcBef>
            </a:pPr>
            <a:r>
              <a:rPr dirty="0" sz="1050" spc="-50">
                <a:solidFill>
                  <a:srgbClr val="D49930"/>
                </a:solidFill>
                <a:latin typeface="Courier New"/>
                <a:cs typeface="Courier New"/>
              </a:rPr>
              <a:t>{</a:t>
            </a:r>
            <a:endParaRPr sz="1050">
              <a:latin typeface="Courier New"/>
              <a:cs typeface="Courier New"/>
            </a:endParaRPr>
          </a:p>
          <a:p>
            <a:pPr marL="387985" marR="2196465">
              <a:lnSpc>
                <a:spcPct val="125000"/>
              </a:lnSpc>
            </a:pPr>
            <a:r>
              <a:rPr dirty="0" sz="1050">
                <a:solidFill>
                  <a:srgbClr val="D49930"/>
                </a:solidFill>
                <a:latin typeface="Courier New"/>
                <a:cs typeface="Courier New"/>
              </a:rPr>
              <a:t>"policy_name":</a:t>
            </a:r>
            <a:r>
              <a:rPr dirty="0" sz="1050" spc="-5">
                <a:solidFill>
                  <a:srgbClr val="D49930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D49930"/>
                </a:solidFill>
                <a:latin typeface="Courier New"/>
                <a:cs typeface="Courier New"/>
              </a:rPr>
              <a:t>"Norte</a:t>
            </a:r>
            <a:r>
              <a:rPr dirty="0" sz="1050" spc="-5">
                <a:solidFill>
                  <a:srgbClr val="D49930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D49930"/>
                </a:solidFill>
                <a:latin typeface="Courier New"/>
                <a:cs typeface="Courier New"/>
              </a:rPr>
              <a:t>D&amp;O</a:t>
            </a:r>
            <a:r>
              <a:rPr dirty="0" sz="1050" spc="-5">
                <a:solidFill>
                  <a:srgbClr val="D49930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D49930"/>
                </a:solidFill>
                <a:latin typeface="Courier New"/>
                <a:cs typeface="Courier New"/>
              </a:rPr>
              <a:t>2026", </a:t>
            </a:r>
            <a:r>
              <a:rPr dirty="0" sz="1050">
                <a:solidFill>
                  <a:srgbClr val="D49930"/>
                </a:solidFill>
                <a:latin typeface="Courier New"/>
                <a:cs typeface="Courier New"/>
              </a:rPr>
              <a:t>"limit":</a:t>
            </a:r>
            <a:r>
              <a:rPr dirty="0" sz="1050" spc="-5">
                <a:solidFill>
                  <a:srgbClr val="D49930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D49930"/>
                </a:solidFill>
                <a:latin typeface="Courier New"/>
                <a:cs typeface="Courier New"/>
              </a:rPr>
              <a:t>"R$</a:t>
            </a:r>
            <a:r>
              <a:rPr dirty="0" sz="1050" spc="-5">
                <a:solidFill>
                  <a:srgbClr val="D49930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D49930"/>
                </a:solidFill>
                <a:latin typeface="Courier New"/>
                <a:cs typeface="Courier New"/>
              </a:rPr>
              <a:t>10.000.000,00",</a:t>
            </a:r>
            <a:endParaRPr sz="1050">
              <a:latin typeface="Courier New"/>
              <a:cs typeface="Courier New"/>
            </a:endParaRPr>
          </a:p>
          <a:p>
            <a:pPr marL="387985" marR="1476375">
              <a:lnSpc>
                <a:spcPct val="125000"/>
              </a:lnSpc>
            </a:pPr>
            <a:r>
              <a:rPr dirty="0" sz="1050">
                <a:solidFill>
                  <a:srgbClr val="D49930"/>
                </a:solidFill>
                <a:latin typeface="Courier New"/>
                <a:cs typeface="Courier New"/>
              </a:rPr>
              <a:t>"retention":</a:t>
            </a:r>
            <a:r>
              <a:rPr dirty="0" sz="1050" spc="-5">
                <a:solidFill>
                  <a:srgbClr val="D49930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D49930"/>
                </a:solidFill>
                <a:latin typeface="Courier New"/>
                <a:cs typeface="Courier New"/>
              </a:rPr>
              <a:t>"R$</a:t>
            </a:r>
            <a:r>
              <a:rPr dirty="0" sz="1050" spc="-5">
                <a:solidFill>
                  <a:srgbClr val="D49930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D49930"/>
                </a:solidFill>
                <a:latin typeface="Courier New"/>
                <a:cs typeface="Courier New"/>
              </a:rPr>
              <a:t>250.000,00", </a:t>
            </a:r>
            <a:r>
              <a:rPr dirty="0" sz="1050">
                <a:solidFill>
                  <a:srgbClr val="D49930"/>
                </a:solidFill>
                <a:latin typeface="Courier New"/>
                <a:cs typeface="Courier New"/>
              </a:rPr>
              <a:t>"coverages":</a:t>
            </a:r>
            <a:r>
              <a:rPr dirty="0" sz="1050" spc="-5">
                <a:solidFill>
                  <a:srgbClr val="D49930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D49930"/>
                </a:solidFill>
                <a:latin typeface="Courier New"/>
                <a:cs typeface="Courier New"/>
              </a:rPr>
              <a:t>["Defesa",</a:t>
            </a:r>
            <a:r>
              <a:rPr dirty="0" sz="1050" spc="-5">
                <a:solidFill>
                  <a:srgbClr val="D49930"/>
                </a:solidFill>
                <a:latin typeface="Courier New"/>
                <a:cs typeface="Courier New"/>
              </a:rPr>
              <a:t> </a:t>
            </a:r>
            <a:r>
              <a:rPr dirty="0" sz="1050" spc="-10">
                <a:solidFill>
                  <a:srgbClr val="D49930"/>
                </a:solidFill>
                <a:latin typeface="Courier New"/>
                <a:cs typeface="Courier New"/>
              </a:rPr>
              <a:t>"Investigações"], </a:t>
            </a:r>
            <a:r>
              <a:rPr dirty="0" sz="1050">
                <a:solidFill>
                  <a:srgbClr val="D49930"/>
                </a:solidFill>
                <a:latin typeface="Courier New"/>
                <a:cs typeface="Courier New"/>
              </a:rPr>
              <a:t>"method":</a:t>
            </a:r>
            <a:r>
              <a:rPr dirty="0" sz="1050" spc="-5">
                <a:solidFill>
                  <a:srgbClr val="D49930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D49930"/>
                </a:solidFill>
                <a:latin typeface="Courier New"/>
                <a:cs typeface="Courier New"/>
              </a:rPr>
              <a:t>"IA</a:t>
            </a:r>
            <a:r>
              <a:rPr dirty="0" sz="1050" spc="-5">
                <a:solidFill>
                  <a:srgbClr val="D49930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D49930"/>
                </a:solidFill>
                <a:latin typeface="Courier New"/>
                <a:cs typeface="Courier New"/>
              </a:rPr>
              <a:t>Generativa</a:t>
            </a:r>
            <a:r>
              <a:rPr dirty="0" sz="1050" spc="-5">
                <a:solidFill>
                  <a:srgbClr val="D49930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D49930"/>
                </a:solidFill>
                <a:latin typeface="Courier New"/>
                <a:cs typeface="Courier New"/>
              </a:rPr>
              <a:t>+</a:t>
            </a:r>
            <a:r>
              <a:rPr dirty="0" sz="1050" spc="-5">
                <a:solidFill>
                  <a:srgbClr val="D49930"/>
                </a:solidFill>
                <a:latin typeface="Courier New"/>
                <a:cs typeface="Courier New"/>
              </a:rPr>
              <a:t> </a:t>
            </a:r>
            <a:r>
              <a:rPr dirty="0" sz="1050" spc="-20">
                <a:solidFill>
                  <a:srgbClr val="D49930"/>
                </a:solidFill>
                <a:latin typeface="Courier New"/>
                <a:cs typeface="Courier New"/>
              </a:rPr>
              <a:t>OCR"</a:t>
            </a:r>
            <a:endParaRPr sz="1050">
              <a:latin typeface="Courier New"/>
              <a:cs typeface="Courier New"/>
            </a:endParaRPr>
          </a:p>
          <a:p>
            <a:pPr marL="227965">
              <a:lnSpc>
                <a:spcPct val="100000"/>
              </a:lnSpc>
              <a:spcBef>
                <a:spcPts val="315"/>
              </a:spcBef>
            </a:pPr>
            <a:r>
              <a:rPr dirty="0" sz="1050" spc="-50">
                <a:solidFill>
                  <a:srgbClr val="D49930"/>
                </a:solidFill>
                <a:latin typeface="Courier New"/>
                <a:cs typeface="Courier New"/>
              </a:rPr>
              <a:t>}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57200" y="5410200"/>
            <a:ext cx="11277600" cy="990600"/>
            <a:chOff x="457200" y="5410200"/>
            <a:chExt cx="11277600" cy="990600"/>
          </a:xfrm>
        </p:grpSpPr>
        <p:sp>
          <p:nvSpPr>
            <p:cNvPr id="12" name="object 12"/>
            <p:cNvSpPr/>
            <p:nvPr/>
          </p:nvSpPr>
          <p:spPr>
            <a:xfrm>
              <a:off x="457200" y="5410200"/>
              <a:ext cx="11277600" cy="990600"/>
            </a:xfrm>
            <a:custGeom>
              <a:avLst/>
              <a:gdLst/>
              <a:ahLst/>
              <a:cxnLst/>
              <a:rect l="l" t="t" r="r" b="b"/>
              <a:pathLst>
                <a:path w="11277600" h="990600">
                  <a:moveTo>
                    <a:pt x="112776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11277600" y="990600"/>
                  </a:lnTo>
                  <a:lnTo>
                    <a:pt x="11277600" y="0"/>
                  </a:lnTo>
                  <a:close/>
                </a:path>
              </a:pathLst>
            </a:custGeom>
            <a:solidFill>
              <a:srgbClr val="F0EF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457200" y="5410200"/>
              <a:ext cx="38100" cy="990600"/>
            </a:xfrm>
            <a:custGeom>
              <a:avLst/>
              <a:gdLst/>
              <a:ahLst/>
              <a:cxnLst/>
              <a:rect l="l" t="t" r="r" b="b"/>
              <a:pathLst>
                <a:path w="38100" h="990600">
                  <a:moveTo>
                    <a:pt x="38100" y="0"/>
                  </a:moveTo>
                  <a:lnTo>
                    <a:pt x="0" y="0"/>
                  </a:lnTo>
                  <a:lnTo>
                    <a:pt x="0" y="990600"/>
                  </a:lnTo>
                  <a:lnTo>
                    <a:pt x="38100" y="9906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4993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711200" y="5583662"/>
            <a:ext cx="10399395" cy="558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00" spc="75">
                <a:solidFill>
                  <a:srgbClr val="162A3A"/>
                </a:solidFill>
                <a:latin typeface="Times New Roman"/>
                <a:cs typeface="Times New Roman"/>
              </a:rPr>
              <a:t>Garantia</a:t>
            </a:r>
            <a:r>
              <a:rPr dirty="0" sz="1300" spc="6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150">
                <a:solidFill>
                  <a:srgbClr val="162A3A"/>
                </a:solidFill>
                <a:latin typeface="Times New Roman"/>
                <a:cs typeface="Times New Roman"/>
              </a:rPr>
              <a:t>de</a:t>
            </a:r>
            <a:r>
              <a:rPr dirty="0" sz="1300" spc="7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130">
                <a:solidFill>
                  <a:srgbClr val="162A3A"/>
                </a:solidFill>
                <a:latin typeface="Times New Roman"/>
                <a:cs typeface="Times New Roman"/>
              </a:rPr>
              <a:t>Funcionamento:</a:t>
            </a:r>
            <a:r>
              <a:rPr dirty="0" sz="1300" spc="18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75">
                <a:solidFill>
                  <a:srgbClr val="162A3A"/>
                </a:solidFill>
                <a:latin typeface="Times New Roman"/>
                <a:cs typeface="Times New Roman"/>
              </a:rPr>
              <a:t>O</a:t>
            </a:r>
            <a:r>
              <a:rPr dirty="0" sz="1300" spc="5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165">
                <a:solidFill>
                  <a:srgbClr val="162A3A"/>
                </a:solidFill>
                <a:latin typeface="Times New Roman"/>
                <a:cs typeface="Times New Roman"/>
              </a:rPr>
              <a:t>sistema</a:t>
            </a:r>
            <a:r>
              <a:rPr dirty="0" sz="1300" spc="6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125">
                <a:solidFill>
                  <a:srgbClr val="162A3A"/>
                </a:solidFill>
                <a:latin typeface="Times New Roman"/>
                <a:cs typeface="Times New Roman"/>
              </a:rPr>
              <a:t>detecta</a:t>
            </a:r>
            <a:r>
              <a:rPr dirty="0" sz="1300" spc="7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162A3A"/>
                </a:solidFill>
                <a:latin typeface="Times New Roman"/>
                <a:cs typeface="Times New Roman"/>
              </a:rPr>
              <a:t>a</a:t>
            </a:r>
            <a:r>
              <a:rPr dirty="0" sz="1300" spc="6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130">
                <a:solidFill>
                  <a:srgbClr val="162A3A"/>
                </a:solidFill>
                <a:latin typeface="Times New Roman"/>
                <a:cs typeface="Times New Roman"/>
              </a:rPr>
              <a:t>ausência</a:t>
            </a:r>
            <a:r>
              <a:rPr dirty="0" sz="1300" spc="6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150">
                <a:solidFill>
                  <a:srgbClr val="162A3A"/>
                </a:solidFill>
                <a:latin typeface="Times New Roman"/>
                <a:cs typeface="Times New Roman"/>
              </a:rPr>
              <a:t>de</a:t>
            </a:r>
            <a:r>
              <a:rPr dirty="0" sz="1300" spc="8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110">
                <a:solidFill>
                  <a:srgbClr val="162A3A"/>
                </a:solidFill>
                <a:latin typeface="Times New Roman"/>
                <a:cs typeface="Times New Roman"/>
              </a:rPr>
              <a:t>credenciais</a:t>
            </a:r>
            <a:r>
              <a:rPr dirty="0" sz="1300" spc="6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135">
                <a:solidFill>
                  <a:srgbClr val="162A3A"/>
                </a:solidFill>
                <a:latin typeface="Times New Roman"/>
                <a:cs typeface="Times New Roman"/>
              </a:rPr>
              <a:t>e</a:t>
            </a:r>
            <a:r>
              <a:rPr dirty="0" sz="1300" spc="8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162A3A"/>
                </a:solidFill>
                <a:latin typeface="Times New Roman"/>
                <a:cs typeface="Times New Roman"/>
              </a:rPr>
              <a:t>aciona</a:t>
            </a:r>
            <a:r>
              <a:rPr dirty="0" sz="1300" spc="6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135">
                <a:solidFill>
                  <a:srgbClr val="162A3A"/>
                </a:solidFill>
                <a:latin typeface="Times New Roman"/>
                <a:cs typeface="Times New Roman"/>
              </a:rPr>
              <a:t>automaticamente</a:t>
            </a:r>
            <a:r>
              <a:rPr dirty="0" sz="1300" spc="8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180">
                <a:solidFill>
                  <a:srgbClr val="162A3A"/>
                </a:solidFill>
                <a:latin typeface="Times New Roman"/>
                <a:cs typeface="Times New Roman"/>
              </a:rPr>
              <a:t>o</a:t>
            </a:r>
            <a:r>
              <a:rPr dirty="0" sz="1300" spc="5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85">
                <a:solidFill>
                  <a:srgbClr val="162A3A"/>
                </a:solidFill>
                <a:latin typeface="Times New Roman"/>
                <a:cs typeface="Times New Roman"/>
              </a:rPr>
              <a:t>fallback</a:t>
            </a:r>
            <a:r>
              <a:rPr dirty="0" sz="1300" spc="-2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120">
                <a:solidFill>
                  <a:srgbClr val="162A3A"/>
                </a:solidFill>
                <a:latin typeface="Times New Roman"/>
                <a:cs typeface="Times New Roman"/>
              </a:rPr>
              <a:t>determinístico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300" spc="155">
                <a:solidFill>
                  <a:srgbClr val="162A3A"/>
                </a:solidFill>
                <a:latin typeface="Times New Roman"/>
                <a:cs typeface="Times New Roman"/>
              </a:rPr>
              <a:t>baseado</a:t>
            </a:r>
            <a:r>
              <a:rPr dirty="0" sz="1300" spc="5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200">
                <a:solidFill>
                  <a:srgbClr val="162A3A"/>
                </a:solidFill>
                <a:latin typeface="Times New Roman"/>
                <a:cs typeface="Times New Roman"/>
              </a:rPr>
              <a:t>em</a:t>
            </a:r>
            <a:r>
              <a:rPr dirty="0" sz="1300" spc="3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120">
                <a:solidFill>
                  <a:srgbClr val="162A3A"/>
                </a:solidFill>
                <a:latin typeface="Times New Roman"/>
                <a:cs typeface="Times New Roman"/>
              </a:rPr>
              <a:t>regras</a:t>
            </a:r>
            <a:r>
              <a:rPr dirty="0" sz="1300" spc="6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120">
                <a:solidFill>
                  <a:srgbClr val="162A3A"/>
                </a:solidFill>
                <a:latin typeface="Times New Roman"/>
                <a:cs typeface="Times New Roman"/>
              </a:rPr>
              <a:t>auditáveis,</a:t>
            </a:r>
            <a:r>
              <a:rPr dirty="0" sz="1300" spc="18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120">
                <a:solidFill>
                  <a:srgbClr val="162A3A"/>
                </a:solidFill>
                <a:latin typeface="Times New Roman"/>
                <a:cs typeface="Times New Roman"/>
              </a:rPr>
              <a:t>garantindo</a:t>
            </a:r>
            <a:r>
              <a:rPr dirty="0" sz="1300" spc="5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155">
                <a:solidFill>
                  <a:srgbClr val="162A3A"/>
                </a:solidFill>
                <a:latin typeface="Times New Roman"/>
                <a:cs typeface="Times New Roman"/>
              </a:rPr>
              <a:t>100%</a:t>
            </a:r>
            <a:r>
              <a:rPr dirty="0" sz="1300" spc="7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150">
                <a:solidFill>
                  <a:srgbClr val="162A3A"/>
                </a:solidFill>
                <a:latin typeface="Times New Roman"/>
                <a:cs typeface="Times New Roman"/>
              </a:rPr>
              <a:t>de</a:t>
            </a:r>
            <a:r>
              <a:rPr dirty="0" sz="1300" spc="7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300" spc="110">
                <a:solidFill>
                  <a:srgbClr val="162A3A"/>
                </a:solidFill>
                <a:latin typeface="Times New Roman"/>
                <a:cs typeface="Times New Roman"/>
              </a:rPr>
              <a:t>disponibilidade.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0" y="6343650"/>
            <a:ext cx="12192000" cy="19050"/>
          </a:xfrm>
          <a:custGeom>
            <a:avLst/>
            <a:gdLst/>
            <a:ahLst/>
            <a:cxnLst/>
            <a:rect l="l" t="t" r="r" b="b"/>
            <a:pathLst>
              <a:path w="12192000" h="19050">
                <a:moveTo>
                  <a:pt x="12192000" y="0"/>
                </a:moveTo>
                <a:lnTo>
                  <a:pt x="0" y="0"/>
                </a:lnTo>
                <a:lnTo>
                  <a:pt x="0" y="19050"/>
                </a:lnTo>
                <a:lnTo>
                  <a:pt x="12192000" y="1905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499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44500" y="6448517"/>
            <a:ext cx="336042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>
                <a:solidFill>
                  <a:srgbClr val="727E87"/>
                </a:solidFill>
                <a:latin typeface="Times New Roman"/>
                <a:cs typeface="Times New Roman"/>
              </a:rPr>
              <a:t>JSON</a:t>
            </a:r>
            <a:r>
              <a:rPr dirty="0" sz="1250" spc="-7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250" spc="-10">
                <a:solidFill>
                  <a:srgbClr val="727E87"/>
                </a:solidFill>
                <a:latin typeface="Times New Roman"/>
                <a:cs typeface="Times New Roman"/>
              </a:rPr>
              <a:t>Schema</a:t>
            </a:r>
            <a:r>
              <a:rPr dirty="0" sz="1250" spc="-5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727E87"/>
                </a:solidFill>
                <a:latin typeface="Times New Roman"/>
                <a:cs typeface="Times New Roman"/>
              </a:rPr>
              <a:t>·</a:t>
            </a:r>
            <a:r>
              <a:rPr dirty="0" sz="1000" spc="3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727E87"/>
                </a:solidFill>
                <a:latin typeface="Times New Roman"/>
                <a:cs typeface="Times New Roman"/>
              </a:rPr>
              <a:t>Prompt</a:t>
            </a:r>
            <a:r>
              <a:rPr dirty="0" sz="1250" spc="-7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250" spc="-50">
                <a:solidFill>
                  <a:srgbClr val="727E87"/>
                </a:solidFill>
                <a:latin typeface="Times New Roman"/>
                <a:cs typeface="Times New Roman"/>
              </a:rPr>
              <a:t>Engineering</a:t>
            </a:r>
            <a:r>
              <a:rPr dirty="0" sz="1250" spc="-3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727E87"/>
                </a:solidFill>
                <a:latin typeface="Times New Roman"/>
                <a:cs typeface="Times New Roman"/>
              </a:rPr>
              <a:t>·</a:t>
            </a:r>
            <a:r>
              <a:rPr dirty="0" sz="1000" spc="3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250" spc="-25">
                <a:solidFill>
                  <a:srgbClr val="727E87"/>
                </a:solidFill>
                <a:latin typeface="Times New Roman"/>
                <a:cs typeface="Times New Roman"/>
              </a:rPr>
              <a:t>Regex</a:t>
            </a:r>
            <a:r>
              <a:rPr dirty="0" sz="1250" spc="-55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250" spc="-10">
                <a:solidFill>
                  <a:srgbClr val="727E87"/>
                </a:solidFill>
                <a:latin typeface="Times New Roman"/>
                <a:cs typeface="Times New Roman"/>
              </a:rPr>
              <a:t>Fallback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020845" y="6479999"/>
            <a:ext cx="17164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50">
                <a:solidFill>
                  <a:srgbClr val="727E87"/>
                </a:solidFill>
                <a:latin typeface="Times New Roman"/>
                <a:cs typeface="Times New Roman"/>
              </a:rPr>
              <a:t>AU</a:t>
            </a:r>
            <a:r>
              <a:rPr dirty="0" sz="1000" spc="-155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100">
                <a:solidFill>
                  <a:srgbClr val="727E87"/>
                </a:solidFill>
                <a:latin typeface="Times New Roman"/>
                <a:cs typeface="Times New Roman"/>
              </a:rPr>
              <a:t>TO</a:t>
            </a:r>
            <a:r>
              <a:rPr dirty="0" sz="1000" spc="-14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727E87"/>
                </a:solidFill>
                <a:latin typeface="Times New Roman"/>
                <a:cs typeface="Times New Roman"/>
              </a:rPr>
              <a:t>RI</a:t>
            </a:r>
            <a:r>
              <a:rPr dirty="0" sz="1000" spc="-7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114">
                <a:solidFill>
                  <a:srgbClr val="727E87"/>
                </a:solidFill>
                <a:latin typeface="Times New Roman"/>
                <a:cs typeface="Times New Roman"/>
              </a:rPr>
              <a:t>A</a:t>
            </a:r>
            <a:r>
              <a:rPr dirty="0" sz="550" spc="114">
                <a:solidFill>
                  <a:srgbClr val="727E87"/>
                </a:solidFill>
                <a:latin typeface="Times New Roman"/>
                <a:cs typeface="Times New Roman"/>
              </a:rPr>
              <a:t>:</a:t>
            </a:r>
            <a:r>
              <a:rPr dirty="0" sz="550" spc="42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114">
                <a:solidFill>
                  <a:srgbClr val="727E87"/>
                </a:solidFill>
                <a:latin typeface="Times New Roman"/>
                <a:cs typeface="Times New Roman"/>
              </a:rPr>
              <a:t>CU</a:t>
            </a:r>
            <a:r>
              <a:rPr dirty="0" sz="1000" spc="-15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727E87"/>
                </a:solidFill>
                <a:latin typeface="Times New Roman"/>
                <a:cs typeface="Times New Roman"/>
              </a:rPr>
              <a:t>RI</a:t>
            </a:r>
            <a:r>
              <a:rPr dirty="0" sz="1000" spc="-7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727E87"/>
                </a:solidFill>
                <a:latin typeface="Times New Roman"/>
                <a:cs typeface="Times New Roman"/>
              </a:rPr>
              <a:t>É</a:t>
            </a:r>
            <a:r>
              <a:rPr dirty="0" sz="1000" spc="25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45">
                <a:solidFill>
                  <a:srgbClr val="727E87"/>
                </a:solidFill>
                <a:latin typeface="Times New Roman"/>
                <a:cs typeface="Times New Roman"/>
              </a:rPr>
              <a:t>EDGE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4500" y="489337"/>
            <a:ext cx="6826884" cy="520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150" b="1">
                <a:solidFill>
                  <a:srgbClr val="162A3A"/>
                </a:solidFill>
                <a:latin typeface="Cambria"/>
                <a:cs typeface="Cambria"/>
              </a:rPr>
              <a:t>Comparativo</a:t>
            </a:r>
            <a:r>
              <a:rPr dirty="0" sz="3150" spc="55" b="1">
                <a:solidFill>
                  <a:srgbClr val="162A3A"/>
                </a:solidFill>
                <a:latin typeface="Cambria"/>
                <a:cs typeface="Cambria"/>
              </a:rPr>
              <a:t> </a:t>
            </a:r>
            <a:r>
              <a:rPr dirty="0" sz="3150" b="1">
                <a:solidFill>
                  <a:srgbClr val="162A3A"/>
                </a:solidFill>
                <a:latin typeface="Cambria"/>
                <a:cs typeface="Cambria"/>
              </a:rPr>
              <a:t>Executivo:</a:t>
            </a:r>
            <a:r>
              <a:rPr dirty="0" sz="3150" spc="15" b="1">
                <a:solidFill>
                  <a:srgbClr val="162A3A"/>
                </a:solidFill>
                <a:latin typeface="Cambria"/>
                <a:cs typeface="Cambria"/>
              </a:rPr>
              <a:t> </a:t>
            </a:r>
            <a:r>
              <a:rPr dirty="0" sz="3250" b="1" i="1">
                <a:solidFill>
                  <a:srgbClr val="D49930"/>
                </a:solidFill>
                <a:latin typeface="Cambria"/>
                <a:cs typeface="Cambria"/>
              </a:rPr>
              <a:t>Norte</a:t>
            </a:r>
            <a:r>
              <a:rPr dirty="0" sz="3250" spc="-75" b="1" i="1">
                <a:solidFill>
                  <a:srgbClr val="D49930"/>
                </a:solidFill>
                <a:latin typeface="Cambria"/>
                <a:cs typeface="Cambria"/>
              </a:rPr>
              <a:t> </a:t>
            </a:r>
            <a:r>
              <a:rPr dirty="0" sz="3250" b="1" i="1">
                <a:solidFill>
                  <a:srgbClr val="D49930"/>
                </a:solidFill>
                <a:latin typeface="Cambria"/>
                <a:cs typeface="Cambria"/>
              </a:rPr>
              <a:t>vs.</a:t>
            </a:r>
            <a:r>
              <a:rPr dirty="0" sz="3250" spc="-15" b="1" i="1">
                <a:solidFill>
                  <a:srgbClr val="D49930"/>
                </a:solidFill>
                <a:latin typeface="Cambria"/>
                <a:cs typeface="Cambria"/>
              </a:rPr>
              <a:t> </a:t>
            </a:r>
            <a:r>
              <a:rPr dirty="0" sz="3250" spc="45" b="1" i="1">
                <a:solidFill>
                  <a:srgbClr val="D49930"/>
                </a:solidFill>
                <a:latin typeface="Cambria"/>
                <a:cs typeface="Cambria"/>
              </a:rPr>
              <a:t>Sul</a:t>
            </a:r>
            <a:endParaRPr sz="3250">
              <a:latin typeface="Cambria"/>
              <a:cs typeface="Cambri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9864725" y="462705"/>
            <a:ext cx="1870710" cy="24384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105" b="0" i="0">
                <a:solidFill>
                  <a:srgbClr val="162A3A"/>
                </a:solidFill>
                <a:latin typeface="Times New Roman"/>
                <a:cs typeface="Times New Roman"/>
              </a:rPr>
              <a:t>DE</a:t>
            </a:r>
            <a:r>
              <a:rPr dirty="0" sz="1400" spc="-195" b="0" i="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400" spc="160" b="0" i="0">
                <a:solidFill>
                  <a:srgbClr val="162A3A"/>
                </a:solidFill>
                <a:latin typeface="Times New Roman"/>
                <a:cs typeface="Times New Roman"/>
              </a:rPr>
              <a:t>MON</a:t>
            </a:r>
            <a:r>
              <a:rPr dirty="0" sz="1400" spc="-195" b="0" i="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400" spc="204" b="0" i="0">
                <a:solidFill>
                  <a:srgbClr val="162A3A"/>
                </a:solidFill>
                <a:latin typeface="Times New Roman"/>
                <a:cs typeface="Times New Roman"/>
              </a:rPr>
              <a:t>STRAÇÃO</a:t>
            </a:r>
            <a:endParaRPr sz="1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457200" y="1547812"/>
          <a:ext cx="11353800" cy="3462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4125"/>
                <a:gridCol w="2472054"/>
                <a:gridCol w="2176145"/>
                <a:gridCol w="2076450"/>
                <a:gridCol w="2028825"/>
              </a:tblGrid>
              <a:tr h="480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51765">
                        <a:lnSpc>
                          <a:spcPct val="100000"/>
                        </a:lnSpc>
                      </a:pPr>
                      <a:r>
                        <a:rPr dirty="0" sz="850" spc="8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CRI</a:t>
                      </a:r>
                      <a:r>
                        <a:rPr dirty="0" sz="850" spc="-105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55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TÉRI</a:t>
                      </a:r>
                      <a:r>
                        <a:rPr dirty="0" sz="850" spc="-105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6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O</a:t>
                      </a:r>
                      <a:r>
                        <a:rPr dirty="0" sz="850" spc="145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dirty="0" sz="850" spc="-12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E</a:t>
                      </a:r>
                      <a:r>
                        <a:rPr dirty="0" sz="850" spc="165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RI</a:t>
                      </a:r>
                      <a:r>
                        <a:rPr dirty="0" sz="850" spc="-105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155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SCO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solidFill>
                      <a:srgbClr val="16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703580">
                        <a:lnSpc>
                          <a:spcPct val="100000"/>
                        </a:lnSpc>
                      </a:pPr>
                      <a:r>
                        <a:rPr dirty="0" sz="850" spc="11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APÓL</a:t>
                      </a:r>
                      <a:r>
                        <a:rPr dirty="0" sz="850" spc="-13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2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850" spc="-105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11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CE</a:t>
                      </a:r>
                      <a:r>
                        <a:rPr dirty="0" sz="850" spc="165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95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NORTE</a:t>
                      </a:r>
                      <a:r>
                        <a:rPr dirty="0" sz="850" spc="16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114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850" spc="114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ESSENCI</a:t>
                      </a:r>
                      <a:r>
                        <a:rPr dirty="0" sz="850" spc="-105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5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8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16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3175">
                        <a:lnSpc>
                          <a:spcPct val="100000"/>
                        </a:lnSpc>
                      </a:pPr>
                      <a:r>
                        <a:rPr dirty="0" sz="850" spc="-3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dirty="0" sz="850" spc="-125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-5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162A3A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56210">
                        <a:lnSpc>
                          <a:spcPct val="100000"/>
                        </a:lnSpc>
                      </a:pPr>
                      <a:r>
                        <a:rPr dirty="0" sz="850" spc="11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APÓL</a:t>
                      </a:r>
                      <a:r>
                        <a:rPr dirty="0" sz="850" spc="-13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2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850" spc="-11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11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CE</a:t>
                      </a:r>
                      <a:r>
                        <a:rPr dirty="0" sz="850" spc="155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135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SU</a:t>
                      </a:r>
                      <a:r>
                        <a:rPr dirty="0" sz="850" spc="-11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dirty="0" sz="850" spc="18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00" spc="11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850" spc="11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AMPL</a:t>
                      </a:r>
                      <a:r>
                        <a:rPr dirty="0" sz="850" spc="-13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12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I</a:t>
                      </a:r>
                      <a:r>
                        <a:rPr dirty="0" sz="850" spc="-105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60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AD</a:t>
                      </a:r>
                      <a:r>
                        <a:rPr dirty="0" sz="850" spc="-125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850" spc="-25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r>
                        <a:rPr dirty="0" sz="800" spc="-25">
                          <a:solidFill>
                            <a:srgbClr val="F9F8F4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162A3A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81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51765">
                        <a:lnSpc>
                          <a:spcPct val="100000"/>
                        </a:lnSpc>
                      </a:pPr>
                      <a:r>
                        <a:rPr dirty="0" sz="1300" spc="85">
                          <a:latin typeface="Times New Roman"/>
                          <a:cs typeface="Times New Roman"/>
                        </a:rPr>
                        <a:t>Limite</a:t>
                      </a:r>
                      <a:r>
                        <a:rPr dirty="0" sz="13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110">
                          <a:latin typeface="Times New Roman"/>
                          <a:cs typeface="Times New Roman"/>
                        </a:rPr>
                        <a:t>Máximo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703580">
                        <a:lnSpc>
                          <a:spcPct val="100000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R$</a:t>
                      </a:r>
                      <a:r>
                        <a:rPr dirty="0" sz="1600" spc="-5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130">
                          <a:latin typeface="Times New Roman"/>
                          <a:cs typeface="Times New Roman"/>
                        </a:rPr>
                        <a:t>10.000.000,00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62A3A"/>
                      </a:solidFill>
                      <a:prstDash val="solid"/>
                    </a:lnT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62A3A"/>
                      </a:solidFill>
                      <a:prstDash val="solid"/>
                    </a:lnT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56210">
                        <a:lnSpc>
                          <a:spcPct val="100000"/>
                        </a:lnSpc>
                      </a:pPr>
                      <a:r>
                        <a:rPr dirty="0" sz="1550">
                          <a:solidFill>
                            <a:srgbClr val="D49930"/>
                          </a:solidFill>
                          <a:latin typeface="Times New Roman"/>
                          <a:cs typeface="Times New Roman"/>
                        </a:rPr>
                        <a:t>R$</a:t>
                      </a:r>
                      <a:r>
                        <a:rPr dirty="0" sz="1550" spc="25">
                          <a:solidFill>
                            <a:srgbClr val="D499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170">
                          <a:solidFill>
                            <a:srgbClr val="D49930"/>
                          </a:solidFill>
                          <a:latin typeface="Times New Roman"/>
                          <a:cs typeface="Times New Roman"/>
                        </a:rPr>
                        <a:t>15.000.000,00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62A3A"/>
                      </a:solidFill>
                      <a:prstDash val="solid"/>
                    </a:lnT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62A3A"/>
                      </a:solidFill>
                      <a:prstDash val="solid"/>
                    </a:lnT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51765">
                        <a:lnSpc>
                          <a:spcPct val="100000"/>
                        </a:lnSpc>
                      </a:pPr>
                      <a:r>
                        <a:rPr dirty="0" sz="1300" spc="114">
                          <a:latin typeface="Times New Roman"/>
                          <a:cs typeface="Times New Roman"/>
                        </a:rPr>
                        <a:t>Franquia</a:t>
                      </a:r>
                      <a:r>
                        <a:rPr dirty="0" sz="1300" spc="6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150" spc="275">
                          <a:latin typeface="Times New Roman"/>
                          <a:cs typeface="Times New Roman"/>
                        </a:rPr>
                        <a:t>/</a:t>
                      </a:r>
                      <a:r>
                        <a:rPr dirty="0" sz="1150" spc="8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120">
                          <a:latin typeface="Times New Roman"/>
                          <a:cs typeface="Times New Roman"/>
                        </a:rPr>
                        <a:t>Retenção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62A3A"/>
                      </a:solidFill>
                      <a:prstDash val="solid"/>
                    </a:lnT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703580">
                        <a:lnSpc>
                          <a:spcPct val="100000"/>
                        </a:lnSpc>
                      </a:pPr>
                      <a:r>
                        <a:rPr dirty="0" sz="1550">
                          <a:solidFill>
                            <a:srgbClr val="D49930"/>
                          </a:solidFill>
                          <a:latin typeface="Times New Roman"/>
                          <a:cs typeface="Times New Roman"/>
                        </a:rPr>
                        <a:t>R$</a:t>
                      </a:r>
                      <a:r>
                        <a:rPr dirty="0" sz="1550" spc="25">
                          <a:solidFill>
                            <a:srgbClr val="D4993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185">
                          <a:solidFill>
                            <a:srgbClr val="D49930"/>
                          </a:solidFill>
                          <a:latin typeface="Times New Roman"/>
                          <a:cs typeface="Times New Roman"/>
                        </a:rPr>
                        <a:t>250.000,00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62A3A"/>
                      </a:solidFill>
                      <a:prstDash val="solid"/>
                    </a:lnT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62A3A"/>
                      </a:solidFill>
                      <a:prstDash val="solid"/>
                    </a:lnT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56210">
                        <a:lnSpc>
                          <a:spcPct val="100000"/>
                        </a:lnSpc>
                      </a:pPr>
                      <a:r>
                        <a:rPr dirty="0" sz="1550">
                          <a:solidFill>
                            <a:srgbClr val="B55744"/>
                          </a:solidFill>
                          <a:latin typeface="Times New Roman"/>
                          <a:cs typeface="Times New Roman"/>
                        </a:rPr>
                        <a:t>R$</a:t>
                      </a:r>
                      <a:r>
                        <a:rPr dirty="0" sz="1550" spc="30">
                          <a:solidFill>
                            <a:srgbClr val="B5574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200">
                          <a:solidFill>
                            <a:srgbClr val="B55744"/>
                          </a:solidFill>
                          <a:latin typeface="Times New Roman"/>
                          <a:cs typeface="Times New Roman"/>
                        </a:rPr>
                        <a:t>500.000,00</a:t>
                      </a:r>
                      <a:r>
                        <a:rPr dirty="0" sz="1250" spc="100">
                          <a:solidFill>
                            <a:srgbClr val="B5574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250" spc="-10">
                          <a:solidFill>
                            <a:srgbClr val="B55744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dirty="0" sz="1550" spc="-10">
                          <a:solidFill>
                            <a:srgbClr val="B55744"/>
                          </a:solidFill>
                          <a:latin typeface="Times New Roman"/>
                          <a:cs typeface="Times New Roman"/>
                        </a:rPr>
                        <a:t>Alta</a:t>
                      </a:r>
                      <a:r>
                        <a:rPr dirty="0" sz="1250" spc="-10">
                          <a:solidFill>
                            <a:srgbClr val="B55744"/>
                          </a:solidFill>
                          <a:latin typeface="Times New Roman"/>
                          <a:cs typeface="Times New Roman"/>
                        </a:rPr>
                        <a:t>)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62A3A"/>
                      </a:solidFill>
                      <a:prstDash val="solid"/>
                    </a:lnT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F8E5D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581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51765">
                        <a:lnSpc>
                          <a:spcPct val="100000"/>
                        </a:lnSpc>
                      </a:pPr>
                      <a:r>
                        <a:rPr dirty="0" sz="1300" spc="125">
                          <a:latin typeface="Times New Roman"/>
                          <a:cs typeface="Times New Roman"/>
                        </a:rPr>
                        <a:t>Coberturas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62A3A"/>
                      </a:solidFill>
                      <a:prstDash val="solid"/>
                    </a:lnT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703580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Defesa</a:t>
                      </a:r>
                      <a:r>
                        <a:rPr dirty="0" sz="1250" spc="-2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125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Investigação</a:t>
                      </a:r>
                      <a:r>
                        <a:rPr dirty="0" sz="1250" spc="-10">
                          <a:latin typeface="Times New Roman"/>
                          <a:cs typeface="Times New Roman"/>
                        </a:rPr>
                        <a:t>,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62A3A"/>
                      </a:solidFill>
                      <a:prstDash val="solid"/>
                    </a:lnT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41275">
                        <a:lnSpc>
                          <a:spcPct val="100000"/>
                        </a:lnSpc>
                      </a:pP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Crise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62A3A"/>
                      </a:solidFill>
                      <a:prstDash val="solid"/>
                    </a:lnT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56210">
                        <a:lnSpc>
                          <a:spcPct val="100000"/>
                        </a:lnSpc>
                      </a:pPr>
                      <a:r>
                        <a:rPr dirty="0" sz="1600" spc="-20">
                          <a:latin typeface="Times New Roman"/>
                          <a:cs typeface="Times New Roman"/>
                        </a:rPr>
                        <a:t>Defesa</a:t>
                      </a:r>
                      <a:r>
                        <a:rPr dirty="0" sz="1250" spc="-2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1250" spc="2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Investigação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62A3A"/>
                      </a:solidFill>
                      <a:prstDash val="solid"/>
                    </a:lnT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62A3A"/>
                      </a:solidFill>
                      <a:prstDash val="solid"/>
                    </a:lnT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51765">
                        <a:lnSpc>
                          <a:spcPct val="100000"/>
                        </a:lnSpc>
                      </a:pPr>
                      <a:r>
                        <a:rPr dirty="0" sz="1300" spc="135">
                          <a:latin typeface="Times New Roman"/>
                          <a:cs typeface="Times New Roman"/>
                        </a:rPr>
                        <a:t>Exclusões</a:t>
                      </a:r>
                      <a:r>
                        <a:rPr dirty="0" sz="1300" spc="6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95">
                          <a:latin typeface="Times New Roman"/>
                          <a:cs typeface="Times New Roman"/>
                        </a:rPr>
                        <a:t>Críticas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62A3A"/>
                      </a:solidFill>
                      <a:prstDash val="solid"/>
                    </a:lnT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703580">
                        <a:lnSpc>
                          <a:spcPct val="100000"/>
                        </a:lnSpc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Fraude</a:t>
                      </a:r>
                      <a:r>
                        <a:rPr dirty="0" sz="1250"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1250" spc="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85">
                          <a:latin typeface="Times New Roman"/>
                          <a:cs typeface="Times New Roman"/>
                        </a:rPr>
                        <a:t>Ato</a:t>
                      </a:r>
                      <a:r>
                        <a:rPr dirty="0" sz="1600" spc="-15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600" spc="-10">
                          <a:latin typeface="Times New Roman"/>
                          <a:cs typeface="Times New Roman"/>
                        </a:rPr>
                        <a:t>Doloso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62A3A"/>
                      </a:solidFill>
                      <a:prstDash val="solid"/>
                    </a:lnT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62A3A"/>
                      </a:solidFill>
                      <a:prstDash val="solid"/>
                    </a:lnT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56210">
                        <a:lnSpc>
                          <a:spcPct val="100000"/>
                        </a:lnSpc>
                      </a:pPr>
                      <a:r>
                        <a:rPr dirty="0" sz="1550">
                          <a:solidFill>
                            <a:srgbClr val="B55744"/>
                          </a:solidFill>
                          <a:latin typeface="Times New Roman"/>
                          <a:cs typeface="Times New Roman"/>
                        </a:rPr>
                        <a:t>Danos</a:t>
                      </a:r>
                      <a:r>
                        <a:rPr dirty="0" sz="1550" spc="25">
                          <a:solidFill>
                            <a:srgbClr val="B5574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>
                          <a:solidFill>
                            <a:srgbClr val="B55744"/>
                          </a:solidFill>
                          <a:latin typeface="Times New Roman"/>
                          <a:cs typeface="Times New Roman"/>
                        </a:rPr>
                        <a:t>Matérias</a:t>
                      </a:r>
                      <a:r>
                        <a:rPr dirty="0" sz="1250">
                          <a:solidFill>
                            <a:srgbClr val="B55744"/>
                          </a:solidFill>
                          <a:latin typeface="Times New Roman"/>
                          <a:cs typeface="Times New Roman"/>
                        </a:rPr>
                        <a:t>,</a:t>
                      </a:r>
                      <a:r>
                        <a:rPr dirty="0" sz="1250" spc="229">
                          <a:solidFill>
                            <a:srgbClr val="B55744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550" spc="-20">
                          <a:solidFill>
                            <a:srgbClr val="B55744"/>
                          </a:solidFill>
                          <a:latin typeface="Times New Roman"/>
                          <a:cs typeface="Times New Roman"/>
                        </a:rPr>
                        <a:t>Lesão</a:t>
                      </a:r>
                      <a:endParaRPr sz="15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62A3A"/>
                      </a:solidFill>
                      <a:prstDash val="solid"/>
                    </a:lnT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F8E5D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22860">
                        <a:lnSpc>
                          <a:spcPct val="100000"/>
                        </a:lnSpc>
                      </a:pPr>
                      <a:r>
                        <a:rPr dirty="0" sz="1550" spc="-10">
                          <a:solidFill>
                            <a:srgbClr val="B55744"/>
                          </a:solidFill>
                          <a:latin typeface="Times New Roman"/>
                          <a:cs typeface="Times New Roman"/>
                        </a:rPr>
                        <a:t>Corp</a:t>
                      </a:r>
                      <a:r>
                        <a:rPr dirty="0" sz="1250" spc="-10">
                          <a:solidFill>
                            <a:srgbClr val="B55744"/>
                          </a:solidFill>
                          <a:latin typeface="Times New Roman"/>
                          <a:cs typeface="Times New Roman"/>
                        </a:rPr>
                        <a:t>.</a:t>
                      </a:r>
                      <a:endParaRPr sz="12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62A3A"/>
                      </a:solidFill>
                      <a:prstDash val="solid"/>
                    </a:lnT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F8E5D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00">
                        <a:latin typeface="Times New Roman"/>
                        <a:cs typeface="Times New Roman"/>
                      </a:endParaRPr>
                    </a:p>
                    <a:p>
                      <a:pPr marL="151765">
                        <a:lnSpc>
                          <a:spcPct val="100000"/>
                        </a:lnSpc>
                      </a:pPr>
                      <a:r>
                        <a:rPr dirty="0" sz="1300" spc="135">
                          <a:latin typeface="Times New Roman"/>
                          <a:cs typeface="Times New Roman"/>
                        </a:rPr>
                        <a:t>Score</a:t>
                      </a:r>
                      <a:r>
                        <a:rPr dirty="0" sz="1300" spc="7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1300" spc="120">
                          <a:latin typeface="Times New Roman"/>
                          <a:cs typeface="Times New Roman"/>
                        </a:rPr>
                        <a:t>InsurMinds</a:t>
                      </a: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62A3A"/>
                      </a:solidFill>
                      <a:prstDash val="solid"/>
                    </a:lnT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 marL="703580">
                        <a:lnSpc>
                          <a:spcPct val="100000"/>
                        </a:lnSpc>
                      </a:pPr>
                      <a:r>
                        <a:rPr dirty="0" sz="2150" spc="280">
                          <a:latin typeface="Times New Roman"/>
                          <a:cs typeface="Times New Roman"/>
                        </a:rPr>
                        <a:t>82/100</a:t>
                      </a:r>
                      <a:endParaRPr sz="2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62A3A"/>
                      </a:solidFill>
                      <a:prstDash val="solid"/>
                    </a:lnT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62A3A"/>
                      </a:solidFill>
                      <a:prstDash val="solid"/>
                    </a:lnT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endParaRPr sz="200">
                        <a:latin typeface="Times New Roman"/>
                        <a:cs typeface="Times New Roman"/>
                      </a:endParaRPr>
                    </a:p>
                    <a:p>
                      <a:pPr marL="156210">
                        <a:lnSpc>
                          <a:spcPct val="100000"/>
                        </a:lnSpc>
                      </a:pPr>
                      <a:r>
                        <a:rPr dirty="0" sz="2150" spc="240">
                          <a:latin typeface="Times New Roman"/>
                          <a:cs typeface="Times New Roman"/>
                        </a:rPr>
                        <a:t>74/100</a:t>
                      </a:r>
                      <a:endParaRPr sz="215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62A3A"/>
                      </a:solidFill>
                      <a:prstDash val="solid"/>
                    </a:lnT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9525">
                      <a:solidFill>
                        <a:srgbClr val="162A3A"/>
                      </a:solidFill>
                      <a:prstDash val="solid"/>
                    </a:lnT>
                    <a:lnB w="9525">
                      <a:solidFill>
                        <a:srgbClr val="162A3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457200" y="5324475"/>
            <a:ext cx="5486400" cy="685800"/>
            <a:chOff x="457200" y="5324475"/>
            <a:chExt cx="5486400" cy="685800"/>
          </a:xfrm>
        </p:grpSpPr>
        <p:sp>
          <p:nvSpPr>
            <p:cNvPr id="6" name="object 6"/>
            <p:cNvSpPr/>
            <p:nvPr/>
          </p:nvSpPr>
          <p:spPr>
            <a:xfrm>
              <a:off x="457200" y="5324475"/>
              <a:ext cx="5486400" cy="685800"/>
            </a:xfrm>
            <a:custGeom>
              <a:avLst/>
              <a:gdLst/>
              <a:ahLst/>
              <a:cxnLst/>
              <a:rect l="l" t="t" r="r" b="b"/>
              <a:pathLst>
                <a:path w="5486400" h="685800">
                  <a:moveTo>
                    <a:pt x="54864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5486400" y="685800"/>
                  </a:lnTo>
                  <a:lnTo>
                    <a:pt x="5486400" y="0"/>
                  </a:lnTo>
                  <a:close/>
                </a:path>
              </a:pathLst>
            </a:custGeom>
            <a:solidFill>
              <a:srgbClr val="F0EFE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57200" y="5324475"/>
              <a:ext cx="38100" cy="685800"/>
            </a:xfrm>
            <a:custGeom>
              <a:avLst/>
              <a:gdLst/>
              <a:ahLst/>
              <a:cxnLst/>
              <a:rect l="l" t="t" r="r" b="b"/>
              <a:pathLst>
                <a:path w="38100" h="685800">
                  <a:moveTo>
                    <a:pt x="381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38100" y="6858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D4993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495300" y="5442843"/>
            <a:ext cx="5448300" cy="412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</a:pPr>
            <a:r>
              <a:rPr dirty="0" sz="850" spc="10">
                <a:solidFill>
                  <a:srgbClr val="D49930"/>
                </a:solidFill>
                <a:latin typeface="Times New Roman"/>
                <a:cs typeface="Times New Roman"/>
              </a:rPr>
              <a:t>DESTAQUE</a:t>
            </a:r>
            <a:r>
              <a:rPr dirty="0" sz="850" spc="200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850" spc="35">
                <a:solidFill>
                  <a:srgbClr val="D49930"/>
                </a:solidFill>
                <a:latin typeface="Times New Roman"/>
                <a:cs typeface="Times New Roman"/>
              </a:rPr>
              <a:t>POSITIVO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</a:pPr>
            <a:r>
              <a:rPr dirty="0" sz="1250" spc="-180">
                <a:latin typeface="Times New Roman"/>
                <a:cs typeface="Times New Roman"/>
              </a:rPr>
              <a:t>A</a:t>
            </a:r>
            <a:r>
              <a:rPr dirty="0" sz="1250" spc="-10">
                <a:latin typeface="Times New Roman"/>
                <a:cs typeface="Times New Roman"/>
              </a:rPr>
              <a:t> </a:t>
            </a:r>
            <a:r>
              <a:rPr dirty="0" sz="1250" spc="-40">
                <a:latin typeface="Times New Roman"/>
                <a:cs typeface="Times New Roman"/>
              </a:rPr>
              <a:t>apólice</a:t>
            </a:r>
            <a:r>
              <a:rPr dirty="0" sz="1250">
                <a:latin typeface="Times New Roman"/>
                <a:cs typeface="Times New Roman"/>
              </a:rPr>
              <a:t> </a:t>
            </a:r>
            <a:r>
              <a:rPr dirty="0" sz="1250" spc="-35">
                <a:latin typeface="Times New Roman"/>
                <a:cs typeface="Times New Roman"/>
              </a:rPr>
              <a:t>Norte</a:t>
            </a:r>
            <a:r>
              <a:rPr dirty="0" sz="125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apresenta</a:t>
            </a:r>
            <a:r>
              <a:rPr dirty="0" sz="1250" spc="60">
                <a:latin typeface="Times New Roman"/>
                <a:cs typeface="Times New Roman"/>
              </a:rPr>
              <a:t> </a:t>
            </a:r>
            <a:r>
              <a:rPr dirty="0" sz="1250" spc="-50">
                <a:latin typeface="Times New Roman"/>
                <a:cs typeface="Times New Roman"/>
              </a:rPr>
              <a:t>menor</a:t>
            </a:r>
            <a:r>
              <a:rPr dirty="0" sz="1250" spc="-20">
                <a:latin typeface="Times New Roman"/>
                <a:cs typeface="Times New Roman"/>
              </a:rPr>
              <a:t> </a:t>
            </a:r>
            <a:r>
              <a:rPr dirty="0" sz="1250" spc="-25">
                <a:latin typeface="Times New Roman"/>
                <a:cs typeface="Times New Roman"/>
              </a:rPr>
              <a:t>retenção</a:t>
            </a:r>
            <a:r>
              <a:rPr dirty="0" sz="1250" spc="-2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e</a:t>
            </a:r>
            <a:r>
              <a:rPr dirty="0" sz="1250" spc="-5">
                <a:latin typeface="Times New Roman"/>
                <a:cs typeface="Times New Roman"/>
              </a:rPr>
              <a:t> </a:t>
            </a:r>
            <a:r>
              <a:rPr dirty="0" sz="1250" spc="-40">
                <a:latin typeface="Times New Roman"/>
                <a:cs typeface="Times New Roman"/>
              </a:rPr>
              <a:t>inclusão</a:t>
            </a:r>
            <a:r>
              <a:rPr dirty="0" sz="1250" spc="-2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de custos</a:t>
            </a:r>
            <a:r>
              <a:rPr dirty="0" sz="1250" spc="-15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de </a:t>
            </a:r>
            <a:r>
              <a:rPr dirty="0" sz="1250" spc="-10">
                <a:latin typeface="Times New Roman"/>
                <a:cs typeface="Times New Roman"/>
              </a:rPr>
              <a:t>crise</a:t>
            </a:r>
            <a:r>
              <a:rPr dirty="0" sz="1000" spc="-1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248400" y="5324475"/>
            <a:ext cx="5486400" cy="685800"/>
            <a:chOff x="6248400" y="5324475"/>
            <a:chExt cx="5486400" cy="685800"/>
          </a:xfrm>
        </p:grpSpPr>
        <p:sp>
          <p:nvSpPr>
            <p:cNvPr id="10" name="object 10"/>
            <p:cNvSpPr/>
            <p:nvPr/>
          </p:nvSpPr>
          <p:spPr>
            <a:xfrm>
              <a:off x="6248400" y="5324475"/>
              <a:ext cx="5486400" cy="685800"/>
            </a:xfrm>
            <a:custGeom>
              <a:avLst/>
              <a:gdLst/>
              <a:ahLst/>
              <a:cxnLst/>
              <a:rect l="l" t="t" r="r" b="b"/>
              <a:pathLst>
                <a:path w="5486400" h="685800">
                  <a:moveTo>
                    <a:pt x="54864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5486400" y="685800"/>
                  </a:lnTo>
                  <a:lnTo>
                    <a:pt x="5486400" y="0"/>
                  </a:lnTo>
                  <a:close/>
                </a:path>
              </a:pathLst>
            </a:custGeom>
            <a:solidFill>
              <a:srgbClr val="F8E5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248400" y="5324475"/>
              <a:ext cx="38100" cy="685800"/>
            </a:xfrm>
            <a:custGeom>
              <a:avLst/>
              <a:gdLst/>
              <a:ahLst/>
              <a:cxnLst/>
              <a:rect l="l" t="t" r="r" b="b"/>
              <a:pathLst>
                <a:path w="38100" h="685800">
                  <a:moveTo>
                    <a:pt x="38100" y="0"/>
                  </a:moveTo>
                  <a:lnTo>
                    <a:pt x="0" y="0"/>
                  </a:lnTo>
                  <a:lnTo>
                    <a:pt x="0" y="685800"/>
                  </a:lnTo>
                  <a:lnTo>
                    <a:pt x="38100" y="685800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B5574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286500" y="5442843"/>
            <a:ext cx="5448300" cy="4121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0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</a:pPr>
            <a:r>
              <a:rPr dirty="0" sz="850">
                <a:solidFill>
                  <a:srgbClr val="B55744"/>
                </a:solidFill>
                <a:latin typeface="Times New Roman"/>
                <a:cs typeface="Times New Roman"/>
              </a:rPr>
              <a:t>ALERTA</a:t>
            </a:r>
            <a:r>
              <a:rPr dirty="0" sz="850" spc="55">
                <a:solidFill>
                  <a:srgbClr val="B55744"/>
                </a:solidFill>
                <a:latin typeface="Times New Roman"/>
                <a:cs typeface="Times New Roman"/>
              </a:rPr>
              <a:t> </a:t>
            </a:r>
            <a:r>
              <a:rPr dirty="0" sz="850">
                <a:solidFill>
                  <a:srgbClr val="B55744"/>
                </a:solidFill>
                <a:latin typeface="Times New Roman"/>
                <a:cs typeface="Times New Roman"/>
              </a:rPr>
              <a:t>DE</a:t>
            </a:r>
            <a:r>
              <a:rPr dirty="0" sz="850" spc="70">
                <a:solidFill>
                  <a:srgbClr val="B55744"/>
                </a:solidFill>
                <a:latin typeface="Times New Roman"/>
                <a:cs typeface="Times New Roman"/>
              </a:rPr>
              <a:t> </a:t>
            </a:r>
            <a:r>
              <a:rPr dirty="0" sz="850" spc="55">
                <a:solidFill>
                  <a:srgbClr val="B55744"/>
                </a:solidFill>
                <a:latin typeface="Times New Roman"/>
                <a:cs typeface="Times New Roman"/>
              </a:rPr>
              <a:t>RISCO</a:t>
            </a:r>
            <a:endParaRPr sz="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0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</a:pPr>
            <a:r>
              <a:rPr dirty="0" sz="1250" spc="-180">
                <a:latin typeface="Times New Roman"/>
                <a:cs typeface="Times New Roman"/>
              </a:rPr>
              <a:t>A</a:t>
            </a:r>
            <a:r>
              <a:rPr dirty="0" sz="1250" spc="-30">
                <a:latin typeface="Times New Roman"/>
                <a:cs typeface="Times New Roman"/>
              </a:rPr>
              <a:t> </a:t>
            </a:r>
            <a:r>
              <a:rPr dirty="0" sz="1250" spc="-40">
                <a:latin typeface="Times New Roman"/>
                <a:cs typeface="Times New Roman"/>
              </a:rPr>
              <a:t>apólice </a:t>
            </a:r>
            <a:r>
              <a:rPr dirty="0" sz="1250">
                <a:latin typeface="Times New Roman"/>
                <a:cs typeface="Times New Roman"/>
              </a:rPr>
              <a:t>Sul</a:t>
            </a:r>
            <a:r>
              <a:rPr dirty="0" sz="1000">
                <a:latin typeface="Times New Roman"/>
                <a:cs typeface="Times New Roman"/>
              </a:rPr>
              <a:t>,</a:t>
            </a:r>
            <a:r>
              <a:rPr dirty="0" sz="1000" spc="80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apesar</a:t>
            </a:r>
            <a:r>
              <a:rPr dirty="0" sz="1250" spc="-5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do</a:t>
            </a:r>
            <a:r>
              <a:rPr dirty="0" sz="1250" spc="-55">
                <a:latin typeface="Times New Roman"/>
                <a:cs typeface="Times New Roman"/>
              </a:rPr>
              <a:t> maior</a:t>
            </a:r>
            <a:r>
              <a:rPr dirty="0" sz="1250" spc="-40">
                <a:latin typeface="Times New Roman"/>
                <a:cs typeface="Times New Roman"/>
              </a:rPr>
              <a:t> limite</a:t>
            </a:r>
            <a:r>
              <a:rPr dirty="0" sz="1000" spc="-40">
                <a:latin typeface="Times New Roman"/>
                <a:cs typeface="Times New Roman"/>
              </a:rPr>
              <a:t>,</a:t>
            </a:r>
            <a:r>
              <a:rPr dirty="0" sz="1000" spc="100">
                <a:latin typeface="Times New Roman"/>
                <a:cs typeface="Times New Roman"/>
              </a:rPr>
              <a:t> </a:t>
            </a:r>
            <a:r>
              <a:rPr dirty="0" sz="1250">
                <a:latin typeface="Times New Roman"/>
                <a:cs typeface="Times New Roman"/>
              </a:rPr>
              <a:t>possui</a:t>
            </a:r>
            <a:r>
              <a:rPr dirty="0" sz="1250" spc="-5">
                <a:latin typeface="Times New Roman"/>
                <a:cs typeface="Times New Roman"/>
              </a:rPr>
              <a:t> </a:t>
            </a:r>
            <a:r>
              <a:rPr dirty="0" sz="1250" spc="-20">
                <a:latin typeface="Times New Roman"/>
                <a:cs typeface="Times New Roman"/>
              </a:rPr>
              <a:t>exclusões</a:t>
            </a:r>
            <a:r>
              <a:rPr dirty="0" sz="1250" spc="-45">
                <a:latin typeface="Times New Roman"/>
                <a:cs typeface="Times New Roman"/>
              </a:rPr>
              <a:t> </a:t>
            </a:r>
            <a:r>
              <a:rPr dirty="0" sz="1250" spc="-20">
                <a:latin typeface="Times New Roman"/>
                <a:cs typeface="Times New Roman"/>
              </a:rPr>
              <a:t>mais</a:t>
            </a:r>
            <a:r>
              <a:rPr dirty="0" sz="1250" spc="-45">
                <a:latin typeface="Times New Roman"/>
                <a:cs typeface="Times New Roman"/>
              </a:rPr>
              <a:t> </a:t>
            </a:r>
            <a:r>
              <a:rPr dirty="0" sz="1250" spc="-10">
                <a:latin typeface="Times New Roman"/>
                <a:cs typeface="Times New Roman"/>
              </a:rPr>
              <a:t>severas</a:t>
            </a:r>
            <a:r>
              <a:rPr dirty="0" sz="1000" spc="-10">
                <a:latin typeface="Times New Roman"/>
                <a:cs typeface="Times New Roman"/>
              </a:rPr>
              <a:t>.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6343650"/>
            <a:ext cx="12192000" cy="19050"/>
          </a:xfrm>
          <a:custGeom>
            <a:avLst/>
            <a:gdLst/>
            <a:ahLst/>
            <a:cxnLst/>
            <a:rect l="l" t="t" r="r" b="b"/>
            <a:pathLst>
              <a:path w="12192000" h="19050">
                <a:moveTo>
                  <a:pt x="12192000" y="0"/>
                </a:moveTo>
                <a:lnTo>
                  <a:pt x="0" y="0"/>
                </a:lnTo>
                <a:lnTo>
                  <a:pt x="0" y="19050"/>
                </a:lnTo>
                <a:lnTo>
                  <a:pt x="12192000" y="1905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499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44500" y="6477270"/>
            <a:ext cx="3077210" cy="18161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100">
                <a:solidFill>
                  <a:srgbClr val="727E87"/>
                </a:solidFill>
                <a:latin typeface="Times New Roman"/>
                <a:cs typeface="Times New Roman"/>
              </a:rPr>
              <a:t>Dados</a:t>
            </a:r>
            <a:r>
              <a:rPr dirty="0" sz="1000" spc="5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90">
                <a:solidFill>
                  <a:srgbClr val="727E87"/>
                </a:solidFill>
                <a:latin typeface="Times New Roman"/>
                <a:cs typeface="Times New Roman"/>
              </a:rPr>
              <a:t>Sintéticos</a:t>
            </a:r>
            <a:r>
              <a:rPr dirty="0" sz="1000" spc="5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70">
                <a:solidFill>
                  <a:srgbClr val="727E87"/>
                </a:solidFill>
                <a:latin typeface="Times New Roman"/>
                <a:cs typeface="Times New Roman"/>
              </a:rPr>
              <a:t>para</a:t>
            </a:r>
            <a:r>
              <a:rPr dirty="0" sz="1000" spc="125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85">
                <a:solidFill>
                  <a:srgbClr val="727E87"/>
                </a:solidFill>
                <a:latin typeface="Times New Roman"/>
                <a:cs typeface="Times New Roman"/>
              </a:rPr>
              <a:t>Demonstração</a:t>
            </a:r>
            <a:r>
              <a:rPr dirty="0" sz="1000" spc="45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727E87"/>
                </a:solidFill>
                <a:latin typeface="Times New Roman"/>
                <a:cs typeface="Times New Roman"/>
              </a:rPr>
              <a:t>Acadêmica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020845" y="6479999"/>
            <a:ext cx="17164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50">
                <a:solidFill>
                  <a:srgbClr val="727E87"/>
                </a:solidFill>
                <a:latin typeface="Times New Roman"/>
                <a:cs typeface="Times New Roman"/>
              </a:rPr>
              <a:t>AU</a:t>
            </a:r>
            <a:r>
              <a:rPr dirty="0" sz="1000" spc="-155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100">
                <a:solidFill>
                  <a:srgbClr val="727E87"/>
                </a:solidFill>
                <a:latin typeface="Times New Roman"/>
                <a:cs typeface="Times New Roman"/>
              </a:rPr>
              <a:t>TO</a:t>
            </a:r>
            <a:r>
              <a:rPr dirty="0" sz="1000" spc="-14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727E87"/>
                </a:solidFill>
                <a:latin typeface="Times New Roman"/>
                <a:cs typeface="Times New Roman"/>
              </a:rPr>
              <a:t>RI</a:t>
            </a:r>
            <a:r>
              <a:rPr dirty="0" sz="1000" spc="-7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114">
                <a:solidFill>
                  <a:srgbClr val="727E87"/>
                </a:solidFill>
                <a:latin typeface="Times New Roman"/>
                <a:cs typeface="Times New Roman"/>
              </a:rPr>
              <a:t>A</a:t>
            </a:r>
            <a:r>
              <a:rPr dirty="0" sz="550" spc="114">
                <a:solidFill>
                  <a:srgbClr val="727E87"/>
                </a:solidFill>
                <a:latin typeface="Times New Roman"/>
                <a:cs typeface="Times New Roman"/>
              </a:rPr>
              <a:t>:</a:t>
            </a:r>
            <a:r>
              <a:rPr dirty="0" sz="550" spc="42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114">
                <a:solidFill>
                  <a:srgbClr val="727E87"/>
                </a:solidFill>
                <a:latin typeface="Times New Roman"/>
                <a:cs typeface="Times New Roman"/>
              </a:rPr>
              <a:t>CU</a:t>
            </a:r>
            <a:r>
              <a:rPr dirty="0" sz="1000" spc="-15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727E87"/>
                </a:solidFill>
                <a:latin typeface="Times New Roman"/>
                <a:cs typeface="Times New Roman"/>
              </a:rPr>
              <a:t>RI</a:t>
            </a:r>
            <a:r>
              <a:rPr dirty="0" sz="1000" spc="-7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727E87"/>
                </a:solidFill>
                <a:latin typeface="Times New Roman"/>
                <a:cs typeface="Times New Roman"/>
              </a:rPr>
              <a:t>É</a:t>
            </a:r>
            <a:r>
              <a:rPr dirty="0" sz="1000" spc="25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45">
                <a:solidFill>
                  <a:srgbClr val="727E87"/>
                </a:solidFill>
                <a:latin typeface="Times New Roman"/>
                <a:cs typeface="Times New Roman"/>
              </a:rPr>
              <a:t>EDGE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150" i="0">
                <a:solidFill>
                  <a:srgbClr val="162A3A"/>
                </a:solidFill>
                <a:latin typeface="Cambria"/>
                <a:cs typeface="Cambria"/>
              </a:rPr>
              <a:t>Resultados</a:t>
            </a:r>
            <a:r>
              <a:rPr dirty="0" sz="3150" spc="-15" i="0">
                <a:solidFill>
                  <a:srgbClr val="162A3A"/>
                </a:solidFill>
                <a:latin typeface="Cambria"/>
                <a:cs typeface="Cambria"/>
              </a:rPr>
              <a:t> </a:t>
            </a:r>
            <a:r>
              <a:rPr dirty="0" sz="3150" i="0">
                <a:solidFill>
                  <a:srgbClr val="162A3A"/>
                </a:solidFill>
                <a:latin typeface="Cambria"/>
                <a:cs typeface="Cambria"/>
              </a:rPr>
              <a:t>e </a:t>
            </a:r>
            <a:r>
              <a:rPr dirty="0"/>
              <a:t>Próximos</a:t>
            </a:r>
            <a:r>
              <a:rPr dirty="0" spc="-40"/>
              <a:t> </a:t>
            </a:r>
            <a:r>
              <a:rPr dirty="0" spc="-10"/>
              <a:t>Passos</a:t>
            </a:r>
            <a:endParaRPr sz="3150">
              <a:latin typeface="Cambria"/>
              <a:cs typeface="Cambr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17200" y="463047"/>
            <a:ext cx="111252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165">
                <a:solidFill>
                  <a:srgbClr val="162A3A"/>
                </a:solidFill>
                <a:latin typeface="Times New Roman"/>
                <a:cs typeface="Times New Roman"/>
              </a:rPr>
              <a:t>ROADMAP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68350" y="1669874"/>
            <a:ext cx="112077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D49930"/>
                </a:solidFill>
                <a:latin typeface="Times New Roman"/>
                <a:cs typeface="Times New Roman"/>
              </a:rPr>
              <a:t>ENTREGA</a:t>
            </a:r>
            <a:r>
              <a:rPr dirty="0" sz="1000" spc="140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000" spc="-20">
                <a:solidFill>
                  <a:srgbClr val="D49930"/>
                </a:solidFill>
                <a:latin typeface="Times New Roman"/>
                <a:cs typeface="Times New Roman"/>
              </a:rPr>
              <a:t>ATUAL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200" y="1819275"/>
            <a:ext cx="19050" cy="2247900"/>
          </a:xfrm>
          <a:custGeom>
            <a:avLst/>
            <a:gdLst/>
            <a:ahLst/>
            <a:cxnLst/>
            <a:rect l="l" t="t" r="r" b="b"/>
            <a:pathLst>
              <a:path w="19050" h="2247900">
                <a:moveTo>
                  <a:pt x="0" y="2247900"/>
                </a:moveTo>
                <a:lnTo>
                  <a:pt x="19050" y="2247900"/>
                </a:lnTo>
                <a:lnTo>
                  <a:pt x="19050" y="0"/>
                </a:lnTo>
                <a:lnTo>
                  <a:pt x="0" y="0"/>
                </a:lnTo>
                <a:lnTo>
                  <a:pt x="0" y="2247900"/>
                </a:lnTo>
                <a:close/>
              </a:path>
            </a:pathLst>
          </a:custGeom>
          <a:solidFill>
            <a:srgbClr val="D499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90525" y="1666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162A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68350" y="1924032"/>
            <a:ext cx="1663700" cy="2965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50">
                <a:solidFill>
                  <a:srgbClr val="162A3A"/>
                </a:solidFill>
                <a:latin typeface="Times New Roman"/>
                <a:cs typeface="Times New Roman"/>
              </a:rPr>
              <a:t>MVP</a:t>
            </a:r>
            <a:r>
              <a:rPr dirty="0" sz="1750" spc="75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750" spc="155">
                <a:solidFill>
                  <a:srgbClr val="162A3A"/>
                </a:solidFill>
                <a:latin typeface="Times New Roman"/>
                <a:cs typeface="Times New Roman"/>
              </a:rPr>
              <a:t>Funcional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81050" y="25050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C3E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06475" y="2401555"/>
            <a:ext cx="2738755" cy="2260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165">
                <a:solidFill>
                  <a:srgbClr val="2C3E4F"/>
                </a:solidFill>
                <a:latin typeface="Times New Roman"/>
                <a:cs typeface="Times New Roman"/>
              </a:rPr>
              <a:t>Processamento</a:t>
            </a:r>
            <a:r>
              <a:rPr dirty="0" sz="1300" spc="7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40">
                <a:solidFill>
                  <a:srgbClr val="2C3E4F"/>
                </a:solidFill>
                <a:latin typeface="Times New Roman"/>
                <a:cs typeface="Times New Roman"/>
              </a:rPr>
              <a:t>de</a:t>
            </a:r>
            <a:r>
              <a:rPr dirty="0" sz="1300" spc="10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75">
                <a:solidFill>
                  <a:srgbClr val="2C3E4F"/>
                </a:solidFill>
                <a:latin typeface="Times New Roman"/>
                <a:cs typeface="Times New Roman"/>
              </a:rPr>
              <a:t>Apólices</a:t>
            </a:r>
            <a:r>
              <a:rPr dirty="0" sz="1300" spc="11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-25">
                <a:solidFill>
                  <a:srgbClr val="2C3E4F"/>
                </a:solidFill>
                <a:latin typeface="Times New Roman"/>
                <a:cs typeface="Times New Roman"/>
              </a:rPr>
              <a:t>D</a:t>
            </a:r>
            <a:r>
              <a:rPr dirty="0" sz="1250" spc="-25">
                <a:solidFill>
                  <a:srgbClr val="2C3E4F"/>
                </a:solidFill>
                <a:latin typeface="Times New Roman"/>
                <a:cs typeface="Times New Roman"/>
              </a:rPr>
              <a:t>&amp;</a:t>
            </a:r>
            <a:r>
              <a:rPr dirty="0" sz="1300" spc="-25">
                <a:solidFill>
                  <a:srgbClr val="2C3E4F"/>
                </a:solidFill>
                <a:latin typeface="Times New Roman"/>
                <a:cs typeface="Times New Roman"/>
              </a:rPr>
              <a:t>O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81050" y="28860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C3E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06475" y="2782555"/>
            <a:ext cx="2473960" cy="2260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80">
                <a:solidFill>
                  <a:srgbClr val="2C3E4F"/>
                </a:solidFill>
                <a:latin typeface="Times New Roman"/>
                <a:cs typeface="Times New Roman"/>
              </a:rPr>
              <a:t>Extração</a:t>
            </a:r>
            <a:r>
              <a:rPr dirty="0" sz="1300" spc="9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45">
                <a:solidFill>
                  <a:srgbClr val="2C3E4F"/>
                </a:solidFill>
                <a:latin typeface="Times New Roman"/>
                <a:cs typeface="Times New Roman"/>
              </a:rPr>
              <a:t>Híbrida</a:t>
            </a:r>
            <a:r>
              <a:rPr dirty="0" sz="1300" spc="12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250" spc="-85">
                <a:solidFill>
                  <a:srgbClr val="2C3E4F"/>
                </a:solidFill>
                <a:latin typeface="Times New Roman"/>
                <a:cs typeface="Times New Roman"/>
              </a:rPr>
              <a:t>(</a:t>
            </a:r>
            <a:r>
              <a:rPr dirty="0" sz="1300" spc="-85">
                <a:solidFill>
                  <a:srgbClr val="2C3E4F"/>
                </a:solidFill>
                <a:latin typeface="Times New Roman"/>
                <a:cs typeface="Times New Roman"/>
              </a:rPr>
              <a:t>I</a:t>
            </a:r>
            <a:r>
              <a:rPr dirty="0" sz="1300" spc="-204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>
                <a:solidFill>
                  <a:srgbClr val="2C3E4F"/>
                </a:solidFill>
                <a:latin typeface="Times New Roman"/>
                <a:cs typeface="Times New Roman"/>
              </a:rPr>
              <a:t>A</a:t>
            </a:r>
            <a:r>
              <a:rPr dirty="0" sz="1300" spc="-1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250">
                <a:solidFill>
                  <a:srgbClr val="2C3E4F"/>
                </a:solidFill>
                <a:latin typeface="Times New Roman"/>
                <a:cs typeface="Times New Roman"/>
              </a:rPr>
              <a:t>+</a:t>
            </a:r>
            <a:r>
              <a:rPr dirty="0" sz="1250" spc="16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90">
                <a:solidFill>
                  <a:srgbClr val="2C3E4F"/>
                </a:solidFill>
                <a:latin typeface="Times New Roman"/>
                <a:cs typeface="Times New Roman"/>
              </a:rPr>
              <a:t>Regras</a:t>
            </a:r>
            <a:r>
              <a:rPr dirty="0" sz="1250" spc="90">
                <a:solidFill>
                  <a:srgbClr val="2C3E4F"/>
                </a:solidFill>
                <a:latin typeface="Times New Roman"/>
                <a:cs typeface="Times New Roman"/>
              </a:rPr>
              <a:t>)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81050" y="32670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C3E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06475" y="3163555"/>
            <a:ext cx="2896235" cy="2260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125">
                <a:solidFill>
                  <a:srgbClr val="2C3E4F"/>
                </a:solidFill>
                <a:latin typeface="Times New Roman"/>
                <a:cs typeface="Times New Roman"/>
              </a:rPr>
              <a:t>Comparação</a:t>
            </a:r>
            <a:r>
              <a:rPr dirty="0" sz="1300" spc="6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2C3E4F"/>
                </a:solidFill>
                <a:latin typeface="Times New Roman"/>
                <a:cs typeface="Times New Roman"/>
              </a:rPr>
              <a:t>e</a:t>
            </a:r>
            <a:r>
              <a:rPr dirty="0" sz="1300" spc="9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70">
                <a:solidFill>
                  <a:srgbClr val="2C3E4F"/>
                </a:solidFill>
                <a:latin typeface="Times New Roman"/>
                <a:cs typeface="Times New Roman"/>
              </a:rPr>
              <a:t>Alertas</a:t>
            </a:r>
            <a:r>
              <a:rPr dirty="0" sz="1300" spc="10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2C3E4F"/>
                </a:solidFill>
                <a:latin typeface="Times New Roman"/>
                <a:cs typeface="Times New Roman"/>
              </a:rPr>
              <a:t>Automáticos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81050" y="36480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64" y="0"/>
                </a:moveTo>
                <a:lnTo>
                  <a:pt x="24785" y="0"/>
                </a:lnTo>
                <a:lnTo>
                  <a:pt x="21139" y="723"/>
                </a:lnTo>
                <a:lnTo>
                  <a:pt x="0" y="24790"/>
                </a:lnTo>
                <a:lnTo>
                  <a:pt x="0" y="32359"/>
                </a:lnTo>
                <a:lnTo>
                  <a:pt x="24785" y="57150"/>
                </a:lnTo>
                <a:lnTo>
                  <a:pt x="32364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10" y="723"/>
                </a:lnTo>
                <a:lnTo>
                  <a:pt x="32364" y="0"/>
                </a:lnTo>
                <a:close/>
              </a:path>
            </a:pathLst>
          </a:custGeom>
          <a:solidFill>
            <a:srgbClr val="2C3E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314825" y="1819275"/>
            <a:ext cx="19050" cy="1866900"/>
          </a:xfrm>
          <a:custGeom>
            <a:avLst/>
            <a:gdLst/>
            <a:ahLst/>
            <a:cxnLst/>
            <a:rect l="l" t="t" r="r" b="b"/>
            <a:pathLst>
              <a:path w="19050" h="1866900">
                <a:moveTo>
                  <a:pt x="0" y="1866900"/>
                </a:moveTo>
                <a:lnTo>
                  <a:pt x="19050" y="1866900"/>
                </a:lnTo>
                <a:lnTo>
                  <a:pt x="19050" y="0"/>
                </a:lnTo>
                <a:lnTo>
                  <a:pt x="0" y="0"/>
                </a:lnTo>
                <a:lnTo>
                  <a:pt x="0" y="1866900"/>
                </a:lnTo>
                <a:close/>
              </a:path>
            </a:pathLst>
          </a:custGeom>
          <a:solidFill>
            <a:srgbClr val="D499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248150" y="1666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162A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629099" y="1669874"/>
            <a:ext cx="59753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135">
                <a:solidFill>
                  <a:srgbClr val="D49930"/>
                </a:solidFill>
                <a:latin typeface="Times New Roman"/>
                <a:cs typeface="Times New Roman"/>
              </a:rPr>
              <a:t>Q4</a:t>
            </a:r>
            <a:r>
              <a:rPr dirty="0" sz="1000" spc="15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000" spc="150">
                <a:solidFill>
                  <a:srgbClr val="D49930"/>
                </a:solidFill>
                <a:latin typeface="Times New Roman"/>
                <a:cs typeface="Times New Roman"/>
              </a:rPr>
              <a:t>2026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89848" y="1670015"/>
            <a:ext cx="36068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135">
                <a:solidFill>
                  <a:srgbClr val="D49930"/>
                </a:solidFill>
                <a:latin typeface="Times New Roman"/>
                <a:cs typeface="Times New Roman"/>
              </a:rPr>
              <a:t>2027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629099" y="1924032"/>
            <a:ext cx="2057400" cy="2965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50" spc="155">
                <a:solidFill>
                  <a:srgbClr val="162A3A"/>
                </a:solidFill>
                <a:latin typeface="Times New Roman"/>
                <a:cs typeface="Times New Roman"/>
              </a:rPr>
              <a:t>Análise</a:t>
            </a:r>
            <a:r>
              <a:rPr dirty="0" sz="1750" spc="1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750" spc="190">
                <a:solidFill>
                  <a:srgbClr val="162A3A"/>
                </a:solidFill>
                <a:latin typeface="Times New Roman"/>
                <a:cs typeface="Times New Roman"/>
              </a:rPr>
              <a:t>Semântica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638675" y="25050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C3E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867224" y="2401555"/>
            <a:ext cx="2960370" cy="2260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125">
                <a:solidFill>
                  <a:srgbClr val="2C3E4F"/>
                </a:solidFill>
                <a:latin typeface="Times New Roman"/>
                <a:cs typeface="Times New Roman"/>
              </a:rPr>
              <a:t>Busca</a:t>
            </a:r>
            <a:r>
              <a:rPr dirty="0" sz="1300" spc="10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75">
                <a:solidFill>
                  <a:srgbClr val="2C3E4F"/>
                </a:solidFill>
                <a:latin typeface="Times New Roman"/>
                <a:cs typeface="Times New Roman"/>
              </a:rPr>
              <a:t>em</a:t>
            </a:r>
            <a:r>
              <a:rPr dirty="0" sz="1300" spc="8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25">
                <a:solidFill>
                  <a:srgbClr val="2C3E4F"/>
                </a:solidFill>
                <a:latin typeface="Times New Roman"/>
                <a:cs typeface="Times New Roman"/>
              </a:rPr>
              <a:t>PDF</a:t>
            </a:r>
            <a:r>
              <a:rPr dirty="0" sz="1300" spc="114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50">
                <a:solidFill>
                  <a:srgbClr val="2C3E4F"/>
                </a:solidFill>
                <a:latin typeface="Times New Roman"/>
                <a:cs typeface="Times New Roman"/>
              </a:rPr>
              <a:t>com</a:t>
            </a:r>
            <a:r>
              <a:rPr dirty="0" sz="1300" spc="85">
                <a:solidFill>
                  <a:srgbClr val="2C3E4F"/>
                </a:solidFill>
                <a:latin typeface="Times New Roman"/>
                <a:cs typeface="Times New Roman"/>
              </a:rPr>
              <a:t> evidência</a:t>
            </a:r>
            <a:r>
              <a:rPr dirty="0" sz="1300" spc="10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65">
                <a:solidFill>
                  <a:srgbClr val="2C3E4F"/>
                </a:solidFill>
                <a:latin typeface="Times New Roman"/>
                <a:cs typeface="Times New Roman"/>
              </a:rPr>
              <a:t>visual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4638675" y="28860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C3E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4629099" y="2716278"/>
            <a:ext cx="2526030" cy="558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0">
              <a:latin typeface="Times New Roman"/>
              <a:cs typeface="Times New Roman"/>
            </a:endParaRPr>
          </a:p>
          <a:p>
            <a:pPr marL="250825">
              <a:lnSpc>
                <a:spcPct val="100000"/>
              </a:lnSpc>
            </a:pPr>
            <a:r>
              <a:rPr dirty="0" sz="1300" spc="65">
                <a:solidFill>
                  <a:srgbClr val="2C3E4F"/>
                </a:solidFill>
                <a:latin typeface="Times New Roman"/>
                <a:cs typeface="Times New Roman"/>
              </a:rPr>
              <a:t>Diferenciação</a:t>
            </a:r>
            <a:r>
              <a:rPr dirty="0" sz="1300" spc="7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25">
                <a:solidFill>
                  <a:srgbClr val="2C3E4F"/>
                </a:solidFill>
                <a:latin typeface="Times New Roman"/>
                <a:cs typeface="Times New Roman"/>
              </a:rPr>
              <a:t>semântica</a:t>
            </a:r>
            <a:r>
              <a:rPr dirty="0" sz="1300" spc="9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2C3E4F"/>
                </a:solidFill>
                <a:latin typeface="Times New Roman"/>
                <a:cs typeface="Times New Roman"/>
              </a:rPr>
              <a:t>de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100">
                <a:solidFill>
                  <a:srgbClr val="2C3E4F"/>
                </a:solidFill>
                <a:latin typeface="Times New Roman"/>
                <a:cs typeface="Times New Roman"/>
              </a:rPr>
              <a:t>cláusulas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68350" y="3478278"/>
            <a:ext cx="2709545" cy="558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0">
              <a:latin typeface="Times New Roman"/>
              <a:cs typeface="Times New Roman"/>
            </a:endParaRPr>
          </a:p>
          <a:p>
            <a:pPr marL="250825">
              <a:lnSpc>
                <a:spcPct val="100000"/>
              </a:lnSpc>
            </a:pPr>
            <a:r>
              <a:rPr dirty="0" sz="1300" spc="120">
                <a:solidFill>
                  <a:srgbClr val="2C3E4F"/>
                </a:solidFill>
                <a:latin typeface="Times New Roman"/>
                <a:cs typeface="Times New Roman"/>
              </a:rPr>
              <a:t>Persistência</a:t>
            </a:r>
            <a:r>
              <a:rPr dirty="0" sz="1300" spc="11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2C3E4F"/>
                </a:solidFill>
                <a:latin typeface="Times New Roman"/>
                <a:cs typeface="Times New Roman"/>
              </a:rPr>
              <a:t>e</a:t>
            </a:r>
            <a:r>
              <a:rPr dirty="0" sz="1300" spc="11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14">
                <a:solidFill>
                  <a:srgbClr val="2C3E4F"/>
                </a:solidFill>
                <a:latin typeface="Times New Roman"/>
                <a:cs typeface="Times New Roman"/>
              </a:rPr>
              <a:t>Documentação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114">
                <a:solidFill>
                  <a:srgbClr val="2C3E4F"/>
                </a:solidFill>
                <a:latin typeface="Times New Roman"/>
                <a:cs typeface="Times New Roman"/>
              </a:rPr>
              <a:t>Completa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638675" y="35337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C3E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4867224" y="3430255"/>
            <a:ext cx="2277110" cy="2260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150">
                <a:solidFill>
                  <a:srgbClr val="2C3E4F"/>
                </a:solidFill>
                <a:latin typeface="Times New Roman"/>
                <a:cs typeface="Times New Roman"/>
              </a:rPr>
              <a:t>Suporte</a:t>
            </a:r>
            <a:r>
              <a:rPr dirty="0" sz="1300" spc="9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50">
                <a:solidFill>
                  <a:srgbClr val="2C3E4F"/>
                </a:solidFill>
                <a:latin typeface="Times New Roman"/>
                <a:cs typeface="Times New Roman"/>
              </a:rPr>
              <a:t>a</a:t>
            </a:r>
            <a:r>
              <a:rPr dirty="0" sz="1300" spc="10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2C3E4F"/>
                </a:solidFill>
                <a:latin typeface="Times New Roman"/>
                <a:cs typeface="Times New Roman"/>
              </a:rPr>
              <a:t>múltiplos </a:t>
            </a:r>
            <a:r>
              <a:rPr dirty="0" sz="1300" spc="85">
                <a:solidFill>
                  <a:srgbClr val="2C3E4F"/>
                </a:solidFill>
                <a:latin typeface="Times New Roman"/>
                <a:cs typeface="Times New Roman"/>
              </a:rPr>
              <a:t>idiomas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181975" y="1819275"/>
            <a:ext cx="19050" cy="1866900"/>
          </a:xfrm>
          <a:custGeom>
            <a:avLst/>
            <a:gdLst/>
            <a:ahLst/>
            <a:cxnLst/>
            <a:rect l="l" t="t" r="r" b="b"/>
            <a:pathLst>
              <a:path w="19050" h="1866900">
                <a:moveTo>
                  <a:pt x="0" y="1866900"/>
                </a:moveTo>
                <a:lnTo>
                  <a:pt x="19050" y="1866900"/>
                </a:lnTo>
                <a:lnTo>
                  <a:pt x="19050" y="0"/>
                </a:lnTo>
                <a:lnTo>
                  <a:pt x="0" y="0"/>
                </a:lnTo>
                <a:lnTo>
                  <a:pt x="0" y="1866900"/>
                </a:lnTo>
                <a:close/>
              </a:path>
            </a:pathLst>
          </a:custGeom>
          <a:solidFill>
            <a:srgbClr val="D499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115300" y="16668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0"/>
                </a:moveTo>
                <a:lnTo>
                  <a:pt x="0" y="0"/>
                </a:lnTo>
                <a:lnTo>
                  <a:pt x="0" y="152400"/>
                </a:lnTo>
                <a:lnTo>
                  <a:pt x="152400" y="152400"/>
                </a:lnTo>
                <a:lnTo>
                  <a:pt x="152400" y="0"/>
                </a:lnTo>
                <a:close/>
              </a:path>
            </a:pathLst>
          </a:custGeom>
          <a:solidFill>
            <a:srgbClr val="162A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8489848" y="1924032"/>
            <a:ext cx="1919605" cy="2965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50" spc="165">
                <a:solidFill>
                  <a:srgbClr val="162A3A"/>
                </a:solidFill>
                <a:latin typeface="Times New Roman"/>
                <a:cs typeface="Times New Roman"/>
              </a:rPr>
              <a:t>Copiloto</a:t>
            </a:r>
            <a:r>
              <a:rPr dirty="0" sz="1750" spc="40">
                <a:solidFill>
                  <a:srgbClr val="162A3A"/>
                </a:solidFill>
                <a:latin typeface="Times New Roman"/>
                <a:cs typeface="Times New Roman"/>
              </a:rPr>
              <a:t> </a:t>
            </a:r>
            <a:r>
              <a:rPr dirty="0" sz="1750" spc="155">
                <a:solidFill>
                  <a:srgbClr val="162A3A"/>
                </a:solidFill>
                <a:latin typeface="Times New Roman"/>
                <a:cs typeface="Times New Roman"/>
              </a:rPr>
              <a:t>Jurídico</a:t>
            </a:r>
            <a:endParaRPr sz="17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8505825" y="25050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C3E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8727973" y="2401555"/>
            <a:ext cx="2706370" cy="2260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-210">
                <a:solidFill>
                  <a:srgbClr val="2C3E4F"/>
                </a:solidFill>
                <a:latin typeface="Times New Roman"/>
                <a:cs typeface="Times New Roman"/>
              </a:rPr>
              <a:t>I </a:t>
            </a:r>
            <a:r>
              <a:rPr dirty="0" sz="1300" spc="114">
                <a:solidFill>
                  <a:srgbClr val="2C3E4F"/>
                </a:solidFill>
                <a:latin typeface="Times New Roman"/>
                <a:cs typeface="Times New Roman"/>
              </a:rPr>
              <a:t>ntegração</a:t>
            </a:r>
            <a:r>
              <a:rPr dirty="0" sz="1300" spc="8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50">
                <a:solidFill>
                  <a:srgbClr val="2C3E4F"/>
                </a:solidFill>
                <a:latin typeface="Times New Roman"/>
                <a:cs typeface="Times New Roman"/>
              </a:rPr>
              <a:t>com</a:t>
            </a:r>
            <a:r>
              <a:rPr dirty="0" sz="1300" spc="8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75">
                <a:solidFill>
                  <a:srgbClr val="2C3E4F"/>
                </a:solidFill>
                <a:latin typeface="Times New Roman"/>
                <a:cs typeface="Times New Roman"/>
              </a:rPr>
              <a:t>bases</a:t>
            </a:r>
            <a:r>
              <a:rPr dirty="0" sz="1300" spc="110">
                <a:solidFill>
                  <a:srgbClr val="2C3E4F"/>
                </a:solidFill>
                <a:latin typeface="Times New Roman"/>
                <a:cs typeface="Times New Roman"/>
              </a:rPr>
              <a:t> da</a:t>
            </a:r>
            <a:r>
              <a:rPr dirty="0" sz="1300" spc="10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30">
                <a:solidFill>
                  <a:srgbClr val="2C3E4F"/>
                </a:solidFill>
                <a:latin typeface="Times New Roman"/>
                <a:cs typeface="Times New Roman"/>
              </a:rPr>
              <a:t>SUSEP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505825" y="28860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C3E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8727973" y="2782555"/>
            <a:ext cx="2639060" cy="2260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114">
                <a:solidFill>
                  <a:srgbClr val="2C3E4F"/>
                </a:solidFill>
                <a:latin typeface="Times New Roman"/>
                <a:cs typeface="Times New Roman"/>
              </a:rPr>
              <a:t>Redação</a:t>
            </a:r>
            <a:r>
              <a:rPr dirty="0" sz="1300" spc="7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30">
                <a:solidFill>
                  <a:srgbClr val="2C3E4F"/>
                </a:solidFill>
                <a:latin typeface="Times New Roman"/>
                <a:cs typeface="Times New Roman"/>
              </a:rPr>
              <a:t>assistida</a:t>
            </a:r>
            <a:r>
              <a:rPr dirty="0" sz="1300" spc="9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40">
                <a:solidFill>
                  <a:srgbClr val="2C3E4F"/>
                </a:solidFill>
                <a:latin typeface="Times New Roman"/>
                <a:cs typeface="Times New Roman"/>
              </a:rPr>
              <a:t>de</a:t>
            </a:r>
            <a:r>
              <a:rPr dirty="0" sz="1300" spc="9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05">
                <a:solidFill>
                  <a:srgbClr val="2C3E4F"/>
                </a:solidFill>
                <a:latin typeface="Times New Roman"/>
                <a:cs typeface="Times New Roman"/>
              </a:rPr>
              <a:t>pareceres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505825" y="32670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C3E4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8489848" y="3097278"/>
            <a:ext cx="3100070" cy="5588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00">
              <a:latin typeface="Times New Roman"/>
              <a:cs typeface="Times New Roman"/>
            </a:endParaRPr>
          </a:p>
          <a:p>
            <a:pPr marL="250825">
              <a:lnSpc>
                <a:spcPct val="100000"/>
              </a:lnSpc>
            </a:pPr>
            <a:r>
              <a:rPr dirty="0" sz="1300" spc="120">
                <a:solidFill>
                  <a:srgbClr val="2C3E4F"/>
                </a:solidFill>
                <a:latin typeface="Times New Roman"/>
                <a:cs typeface="Times New Roman"/>
              </a:rPr>
              <a:t>Benchmark</a:t>
            </a:r>
            <a:r>
              <a:rPr dirty="0" sz="1300" spc="2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40">
                <a:solidFill>
                  <a:srgbClr val="2C3E4F"/>
                </a:solidFill>
                <a:latin typeface="Times New Roman"/>
                <a:cs typeface="Times New Roman"/>
              </a:rPr>
              <a:t>de</a:t>
            </a:r>
            <a:r>
              <a:rPr dirty="0" sz="1300" spc="105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25">
                <a:solidFill>
                  <a:srgbClr val="2C3E4F"/>
                </a:solidFill>
                <a:latin typeface="Times New Roman"/>
                <a:cs typeface="Times New Roman"/>
              </a:rPr>
              <a:t>mercado</a:t>
            </a:r>
            <a:r>
              <a:rPr dirty="0" sz="1300" spc="8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75">
                <a:solidFill>
                  <a:srgbClr val="2C3E4F"/>
                </a:solidFill>
                <a:latin typeface="Times New Roman"/>
                <a:cs typeface="Times New Roman"/>
              </a:rPr>
              <a:t>em</a:t>
            </a:r>
            <a:r>
              <a:rPr dirty="0" sz="1300" spc="90">
                <a:solidFill>
                  <a:srgbClr val="2C3E4F"/>
                </a:solidFill>
                <a:latin typeface="Times New Roman"/>
                <a:cs typeface="Times New Roman"/>
              </a:rPr>
              <a:t> </a:t>
            </a:r>
            <a:r>
              <a:rPr dirty="0" sz="1300" spc="145">
                <a:solidFill>
                  <a:srgbClr val="2C3E4F"/>
                </a:solidFill>
                <a:latin typeface="Times New Roman"/>
                <a:cs typeface="Times New Roman"/>
              </a:rPr>
              <a:t>tempo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300" spc="-20">
                <a:solidFill>
                  <a:srgbClr val="2C3E4F"/>
                </a:solidFill>
                <a:latin typeface="Times New Roman"/>
                <a:cs typeface="Times New Roman"/>
              </a:rPr>
              <a:t>real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0" y="6343650"/>
            <a:ext cx="12192000" cy="19050"/>
          </a:xfrm>
          <a:custGeom>
            <a:avLst/>
            <a:gdLst/>
            <a:ahLst/>
            <a:cxnLst/>
            <a:rect l="l" t="t" r="r" b="b"/>
            <a:pathLst>
              <a:path w="12192000" h="19050">
                <a:moveTo>
                  <a:pt x="12192000" y="0"/>
                </a:moveTo>
                <a:lnTo>
                  <a:pt x="0" y="0"/>
                </a:lnTo>
                <a:lnTo>
                  <a:pt x="0" y="19050"/>
                </a:lnTo>
                <a:lnTo>
                  <a:pt x="12192000" y="1905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499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444500" y="6477424"/>
            <a:ext cx="1905635" cy="18161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60">
                <a:solidFill>
                  <a:srgbClr val="727E87"/>
                </a:solidFill>
                <a:latin typeface="Times New Roman"/>
                <a:cs typeface="Times New Roman"/>
              </a:rPr>
              <a:t>Visão</a:t>
            </a:r>
            <a:r>
              <a:rPr dirty="0" sz="1000" spc="25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130">
                <a:solidFill>
                  <a:srgbClr val="727E87"/>
                </a:solidFill>
                <a:latin typeface="Times New Roman"/>
                <a:cs typeface="Times New Roman"/>
              </a:rPr>
              <a:t>de</a:t>
            </a:r>
            <a:r>
              <a:rPr dirty="0" sz="1000" spc="45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65">
                <a:solidFill>
                  <a:srgbClr val="727E87"/>
                </a:solidFill>
                <a:latin typeface="Times New Roman"/>
                <a:cs typeface="Times New Roman"/>
              </a:rPr>
              <a:t>Evolução</a:t>
            </a:r>
            <a:r>
              <a:rPr dirty="0" sz="1000" spc="3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145">
                <a:solidFill>
                  <a:srgbClr val="727E87"/>
                </a:solidFill>
                <a:latin typeface="Times New Roman"/>
                <a:cs typeface="Times New Roman"/>
              </a:rPr>
              <a:t>do</a:t>
            </a:r>
            <a:r>
              <a:rPr dirty="0" sz="1000" spc="3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100">
                <a:solidFill>
                  <a:srgbClr val="727E87"/>
                </a:solidFill>
                <a:latin typeface="Times New Roman"/>
                <a:cs typeface="Times New Roman"/>
              </a:rPr>
              <a:t>Produto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020845" y="6479999"/>
            <a:ext cx="17164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50">
                <a:solidFill>
                  <a:srgbClr val="727E87"/>
                </a:solidFill>
                <a:latin typeface="Times New Roman"/>
                <a:cs typeface="Times New Roman"/>
              </a:rPr>
              <a:t>AU</a:t>
            </a:r>
            <a:r>
              <a:rPr dirty="0" sz="1000" spc="-155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100">
                <a:solidFill>
                  <a:srgbClr val="727E87"/>
                </a:solidFill>
                <a:latin typeface="Times New Roman"/>
                <a:cs typeface="Times New Roman"/>
              </a:rPr>
              <a:t>TO</a:t>
            </a:r>
            <a:r>
              <a:rPr dirty="0" sz="1000" spc="-14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727E87"/>
                </a:solidFill>
                <a:latin typeface="Times New Roman"/>
                <a:cs typeface="Times New Roman"/>
              </a:rPr>
              <a:t>RI</a:t>
            </a:r>
            <a:r>
              <a:rPr dirty="0" sz="1000" spc="-7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114">
                <a:solidFill>
                  <a:srgbClr val="727E87"/>
                </a:solidFill>
                <a:latin typeface="Times New Roman"/>
                <a:cs typeface="Times New Roman"/>
              </a:rPr>
              <a:t>A</a:t>
            </a:r>
            <a:r>
              <a:rPr dirty="0" sz="550" spc="114">
                <a:solidFill>
                  <a:srgbClr val="727E87"/>
                </a:solidFill>
                <a:latin typeface="Times New Roman"/>
                <a:cs typeface="Times New Roman"/>
              </a:rPr>
              <a:t>:</a:t>
            </a:r>
            <a:r>
              <a:rPr dirty="0" sz="550" spc="42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114">
                <a:solidFill>
                  <a:srgbClr val="727E87"/>
                </a:solidFill>
                <a:latin typeface="Times New Roman"/>
                <a:cs typeface="Times New Roman"/>
              </a:rPr>
              <a:t>CU</a:t>
            </a:r>
            <a:r>
              <a:rPr dirty="0" sz="1000" spc="-15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727E87"/>
                </a:solidFill>
                <a:latin typeface="Times New Roman"/>
                <a:cs typeface="Times New Roman"/>
              </a:rPr>
              <a:t>RI</a:t>
            </a:r>
            <a:r>
              <a:rPr dirty="0" sz="1000" spc="-7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727E87"/>
                </a:solidFill>
                <a:latin typeface="Times New Roman"/>
                <a:cs typeface="Times New Roman"/>
              </a:rPr>
              <a:t>É</a:t>
            </a:r>
            <a:r>
              <a:rPr dirty="0" sz="1000" spc="250">
                <a:solidFill>
                  <a:srgbClr val="727E87"/>
                </a:solidFill>
                <a:latin typeface="Times New Roman"/>
                <a:cs typeface="Times New Roman"/>
              </a:rPr>
              <a:t> </a:t>
            </a:r>
            <a:r>
              <a:rPr dirty="0" sz="1000" spc="45">
                <a:solidFill>
                  <a:srgbClr val="727E87"/>
                </a:solidFill>
                <a:latin typeface="Times New Roman"/>
                <a:cs typeface="Times New Roman"/>
              </a:rPr>
              <a:t>EDGE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162A3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283200" y="1586655"/>
            <a:ext cx="1589405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>
                <a:solidFill>
                  <a:srgbClr val="D49930"/>
                </a:solidFill>
                <a:latin typeface="Times New Roman"/>
                <a:cs typeface="Times New Roman"/>
              </a:rPr>
              <a:t>I</a:t>
            </a:r>
            <a:r>
              <a:rPr dirty="0" sz="1400" spc="-15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400" spc="60">
                <a:solidFill>
                  <a:srgbClr val="D49930"/>
                </a:solidFill>
                <a:latin typeface="Times New Roman"/>
                <a:cs typeface="Times New Roman"/>
              </a:rPr>
              <a:t>N</a:t>
            </a:r>
            <a:r>
              <a:rPr dirty="0" sz="1400" spc="-70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400" spc="160">
                <a:solidFill>
                  <a:srgbClr val="D49930"/>
                </a:solidFill>
                <a:latin typeface="Times New Roman"/>
                <a:cs typeface="Times New Roman"/>
              </a:rPr>
              <a:t>S</a:t>
            </a:r>
            <a:r>
              <a:rPr dirty="0" sz="1400" spc="-85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D49930"/>
                </a:solidFill>
                <a:latin typeface="Times New Roman"/>
                <a:cs typeface="Times New Roman"/>
              </a:rPr>
              <a:t>U</a:t>
            </a:r>
            <a:r>
              <a:rPr dirty="0" sz="1400" spc="-35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400" spc="80">
                <a:solidFill>
                  <a:srgbClr val="D49930"/>
                </a:solidFill>
                <a:latin typeface="Times New Roman"/>
                <a:cs typeface="Times New Roman"/>
              </a:rPr>
              <a:t>R</a:t>
            </a:r>
            <a:r>
              <a:rPr dirty="0" sz="1400" spc="-105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400" spc="100">
                <a:solidFill>
                  <a:srgbClr val="D49930"/>
                </a:solidFill>
                <a:latin typeface="Times New Roman"/>
                <a:cs typeface="Times New Roman"/>
              </a:rPr>
              <a:t>M</a:t>
            </a:r>
            <a:r>
              <a:rPr dirty="0" sz="1400" spc="-95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D49930"/>
                </a:solidFill>
                <a:latin typeface="Times New Roman"/>
                <a:cs typeface="Times New Roman"/>
              </a:rPr>
              <a:t>I</a:t>
            </a:r>
            <a:r>
              <a:rPr dirty="0" sz="1400" spc="40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400" spc="60">
                <a:solidFill>
                  <a:srgbClr val="D49930"/>
                </a:solidFill>
                <a:latin typeface="Times New Roman"/>
                <a:cs typeface="Times New Roman"/>
              </a:rPr>
              <a:t>N</a:t>
            </a:r>
            <a:r>
              <a:rPr dirty="0" sz="1400" spc="-70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D49930"/>
                </a:solidFill>
                <a:latin typeface="Times New Roman"/>
                <a:cs typeface="Times New Roman"/>
              </a:rPr>
              <a:t>D</a:t>
            </a:r>
            <a:r>
              <a:rPr dirty="0" sz="1400" spc="-100">
                <a:solidFill>
                  <a:srgbClr val="D49930"/>
                </a:solidFill>
                <a:latin typeface="Times New Roman"/>
                <a:cs typeface="Times New Roman"/>
              </a:rPr>
              <a:t> </a:t>
            </a:r>
            <a:r>
              <a:rPr dirty="0" sz="1400" spc="110">
                <a:solidFill>
                  <a:srgbClr val="D49930"/>
                </a:solidFill>
                <a:latin typeface="Times New Roman"/>
                <a:cs typeface="Times New Roman"/>
              </a:rPr>
              <a:t>S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L="4445">
              <a:lnSpc>
                <a:spcPts val="6165"/>
              </a:lnSpc>
              <a:spcBef>
                <a:spcPts val="100"/>
              </a:spcBef>
            </a:pPr>
            <a:r>
              <a:rPr dirty="0" spc="55"/>
              <a:t>Compare</a:t>
            </a:r>
            <a:r>
              <a:rPr dirty="0" spc="70"/>
              <a:t> </a:t>
            </a:r>
            <a:r>
              <a:rPr dirty="0" spc="-10"/>
              <a:t>proteção.</a:t>
            </a:r>
          </a:p>
          <a:p>
            <a:pPr algn="ctr" marL="4445">
              <a:lnSpc>
                <a:spcPts val="6345"/>
              </a:lnSpc>
            </a:pPr>
            <a:r>
              <a:rPr dirty="0"/>
              <a:t>Encontre</a:t>
            </a:r>
            <a:r>
              <a:rPr dirty="0" spc="80"/>
              <a:t> </a:t>
            </a:r>
            <a:r>
              <a:rPr dirty="0"/>
              <a:t>as</a:t>
            </a:r>
            <a:r>
              <a:rPr dirty="0" spc="90"/>
              <a:t> </a:t>
            </a:r>
            <a:r>
              <a:rPr dirty="0" sz="5550" spc="-10" i="1">
                <a:solidFill>
                  <a:srgbClr val="D49930"/>
                </a:solidFill>
                <a:latin typeface="Cambria"/>
                <a:cs typeface="Cambria"/>
              </a:rPr>
              <a:t>lacunas.</a:t>
            </a:r>
            <a:endParaRPr sz="5550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876800" y="3895725"/>
            <a:ext cx="2438400" cy="9525"/>
          </a:xfrm>
          <a:custGeom>
            <a:avLst/>
            <a:gdLst/>
            <a:ahLst/>
            <a:cxnLst/>
            <a:rect l="l" t="t" r="r" b="b"/>
            <a:pathLst>
              <a:path w="2438400" h="9525">
                <a:moveTo>
                  <a:pt x="2438400" y="0"/>
                </a:moveTo>
                <a:lnTo>
                  <a:pt x="0" y="0"/>
                </a:lnTo>
                <a:lnTo>
                  <a:pt x="0" y="9525"/>
                </a:lnTo>
                <a:lnTo>
                  <a:pt x="2438400" y="9525"/>
                </a:lnTo>
                <a:lnTo>
                  <a:pt x="2438400" y="0"/>
                </a:lnTo>
                <a:close/>
              </a:path>
            </a:pathLst>
          </a:custGeom>
          <a:solidFill>
            <a:srgbClr val="D499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297362" y="4377621"/>
            <a:ext cx="3599815" cy="89090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1400" spc="10">
                <a:solidFill>
                  <a:srgbClr val="F9F8F5"/>
                </a:solidFill>
                <a:latin typeface="Times New Roman"/>
                <a:cs typeface="Times New Roman"/>
              </a:rPr>
              <a:t>CURI</a:t>
            </a:r>
            <a:r>
              <a:rPr dirty="0" sz="1400" spc="-200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400" spc="75">
                <a:solidFill>
                  <a:srgbClr val="F9F8F5"/>
                </a:solidFill>
                <a:latin typeface="Times New Roman"/>
                <a:cs typeface="Times New Roman"/>
              </a:rPr>
              <a:t>E</a:t>
            </a:r>
            <a:r>
              <a:rPr dirty="0" sz="1400" spc="105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400" spc="30">
                <a:solidFill>
                  <a:srgbClr val="F9F8F5"/>
                </a:solidFill>
                <a:latin typeface="Times New Roman"/>
                <a:cs typeface="Times New Roman"/>
              </a:rPr>
              <a:t>EDGE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1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450" spc="145">
                <a:solidFill>
                  <a:srgbClr val="F9F8F5"/>
                </a:solidFill>
                <a:latin typeface="Times New Roman"/>
                <a:cs typeface="Times New Roman"/>
              </a:rPr>
              <a:t>Projeto</a:t>
            </a:r>
            <a:r>
              <a:rPr dirty="0" sz="1450" spc="50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450" spc="65">
                <a:solidFill>
                  <a:srgbClr val="F9F8F5"/>
                </a:solidFill>
                <a:latin typeface="Times New Roman"/>
                <a:cs typeface="Times New Roman"/>
              </a:rPr>
              <a:t>Final</a:t>
            </a:r>
            <a:r>
              <a:rPr dirty="0" sz="1450" spc="155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9F8F5"/>
                </a:solidFill>
                <a:latin typeface="Times New Roman"/>
                <a:cs typeface="Times New Roman"/>
              </a:rPr>
              <a:t>·</a:t>
            </a:r>
            <a:r>
              <a:rPr dirty="0" sz="1400" spc="175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450" spc="110">
                <a:solidFill>
                  <a:srgbClr val="F9F8F5"/>
                </a:solidFill>
                <a:latin typeface="Times New Roman"/>
                <a:cs typeface="Times New Roman"/>
              </a:rPr>
              <a:t>Módulo</a:t>
            </a:r>
            <a:r>
              <a:rPr dirty="0" sz="1450" spc="55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450" spc="145">
                <a:solidFill>
                  <a:srgbClr val="F9F8F5"/>
                </a:solidFill>
                <a:latin typeface="Times New Roman"/>
                <a:cs typeface="Times New Roman"/>
              </a:rPr>
              <a:t>Avançado</a:t>
            </a:r>
            <a:r>
              <a:rPr dirty="0" sz="1450" spc="50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400">
                <a:solidFill>
                  <a:srgbClr val="F9F8F5"/>
                </a:solidFill>
                <a:latin typeface="Times New Roman"/>
                <a:cs typeface="Times New Roman"/>
              </a:rPr>
              <a:t>·</a:t>
            </a:r>
            <a:r>
              <a:rPr dirty="0" sz="1400" spc="175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400" spc="195">
                <a:solidFill>
                  <a:srgbClr val="F9F8F5"/>
                </a:solidFill>
                <a:latin typeface="Times New Roman"/>
                <a:cs typeface="Times New Roman"/>
              </a:rPr>
              <a:t>2026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50">
              <a:latin typeface="Times New Roman"/>
              <a:cs typeface="Times New Roman"/>
            </a:endParaRPr>
          </a:p>
          <a:p>
            <a:pPr algn="ctr" marR="9525">
              <a:lnSpc>
                <a:spcPct val="100000"/>
              </a:lnSpc>
            </a:pPr>
            <a:r>
              <a:rPr dirty="0" sz="1000" spc="60">
                <a:solidFill>
                  <a:srgbClr val="FBFBF9"/>
                </a:solidFill>
                <a:latin typeface="Times New Roman"/>
                <a:cs typeface="Times New Roman"/>
              </a:rPr>
              <a:t>TE</a:t>
            </a:r>
            <a:r>
              <a:rPr dirty="0" sz="1000" spc="-155">
                <a:solidFill>
                  <a:srgbClr val="FBFBF9"/>
                </a:solidFill>
                <a:latin typeface="Times New Roman"/>
                <a:cs typeface="Times New Roman"/>
              </a:rPr>
              <a:t> </a:t>
            </a:r>
            <a:r>
              <a:rPr dirty="0" sz="1000" spc="114">
                <a:solidFill>
                  <a:srgbClr val="FBFBF9"/>
                </a:solidFill>
                <a:latin typeface="Times New Roman"/>
                <a:cs typeface="Times New Roman"/>
              </a:rPr>
              <a:t>CN</a:t>
            </a:r>
            <a:r>
              <a:rPr dirty="0" sz="1000" spc="-70">
                <a:solidFill>
                  <a:srgbClr val="FBFBF9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FBFBF9"/>
                </a:solidFill>
                <a:latin typeface="Times New Roman"/>
                <a:cs typeface="Times New Roman"/>
              </a:rPr>
              <a:t>O</a:t>
            </a:r>
            <a:r>
              <a:rPr dirty="0" sz="1000" spc="-125">
                <a:solidFill>
                  <a:srgbClr val="FBFBF9"/>
                </a:solidFill>
                <a:latin typeface="Times New Roman"/>
                <a:cs typeface="Times New Roman"/>
              </a:rPr>
              <a:t> </a:t>
            </a:r>
            <a:r>
              <a:rPr dirty="0" sz="1000" spc="-45">
                <a:solidFill>
                  <a:srgbClr val="FBFBF9"/>
                </a:solidFill>
                <a:latin typeface="Times New Roman"/>
                <a:cs typeface="Times New Roman"/>
              </a:rPr>
              <a:t>L</a:t>
            </a:r>
            <a:r>
              <a:rPr dirty="0" sz="1000" spc="-130">
                <a:solidFill>
                  <a:srgbClr val="FBFBF9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FBFBF9"/>
                </a:solidFill>
                <a:latin typeface="Times New Roman"/>
                <a:cs typeface="Times New Roman"/>
              </a:rPr>
              <a:t>O</a:t>
            </a:r>
            <a:r>
              <a:rPr dirty="0" sz="1000" spc="-125">
                <a:solidFill>
                  <a:srgbClr val="FBFBF9"/>
                </a:solidFill>
                <a:latin typeface="Times New Roman"/>
                <a:cs typeface="Times New Roman"/>
              </a:rPr>
              <a:t> </a:t>
            </a:r>
            <a:r>
              <a:rPr dirty="0" sz="1000" spc="-30">
                <a:solidFill>
                  <a:srgbClr val="FBFBF9"/>
                </a:solidFill>
                <a:latin typeface="Times New Roman"/>
                <a:cs typeface="Times New Roman"/>
              </a:rPr>
              <a:t>GI</a:t>
            </a:r>
            <a:r>
              <a:rPr dirty="0" sz="1000" spc="-40">
                <a:solidFill>
                  <a:srgbClr val="FBFBF9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BFBF9"/>
                </a:solidFill>
                <a:latin typeface="Times New Roman"/>
                <a:cs typeface="Times New Roman"/>
              </a:rPr>
              <a:t>A</a:t>
            </a:r>
            <a:r>
              <a:rPr dirty="0" sz="1000" spc="265">
                <a:solidFill>
                  <a:srgbClr val="FBFBF9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BFBF9"/>
                </a:solidFill>
                <a:latin typeface="Times New Roman"/>
                <a:cs typeface="Times New Roman"/>
              </a:rPr>
              <a:t>A</a:t>
            </a:r>
            <a:r>
              <a:rPr dirty="0" sz="1000" spc="265">
                <a:solidFill>
                  <a:srgbClr val="FBFBF9"/>
                </a:solidFill>
                <a:latin typeface="Times New Roman"/>
                <a:cs typeface="Times New Roman"/>
              </a:rPr>
              <a:t> </a:t>
            </a:r>
            <a:r>
              <a:rPr dirty="0" sz="1000" spc="180">
                <a:solidFill>
                  <a:srgbClr val="FBFBF9"/>
                </a:solidFill>
                <a:latin typeface="Times New Roman"/>
                <a:cs typeface="Times New Roman"/>
              </a:rPr>
              <a:t>S</a:t>
            </a:r>
            <a:r>
              <a:rPr dirty="0" sz="1000" spc="-135">
                <a:solidFill>
                  <a:srgbClr val="FBFBF9"/>
                </a:solidFill>
                <a:latin typeface="Times New Roman"/>
                <a:cs typeface="Times New Roman"/>
              </a:rPr>
              <a:t> </a:t>
            </a:r>
            <a:r>
              <a:rPr dirty="0" sz="1000" spc="-25">
                <a:solidFill>
                  <a:srgbClr val="FBFBF9"/>
                </a:solidFill>
                <a:latin typeface="Times New Roman"/>
                <a:cs typeface="Times New Roman"/>
              </a:rPr>
              <a:t>E</a:t>
            </a:r>
            <a:r>
              <a:rPr dirty="0" sz="1000" spc="-150">
                <a:solidFill>
                  <a:srgbClr val="FBFBF9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BFBF9"/>
                </a:solidFill>
                <a:latin typeface="Times New Roman"/>
                <a:cs typeface="Times New Roman"/>
              </a:rPr>
              <a:t>RVI</a:t>
            </a:r>
            <a:r>
              <a:rPr dirty="0" sz="1000" spc="-35">
                <a:solidFill>
                  <a:srgbClr val="FBFBF9"/>
                </a:solidFill>
                <a:latin typeface="Times New Roman"/>
                <a:cs typeface="Times New Roman"/>
              </a:rPr>
              <a:t> </a:t>
            </a:r>
            <a:r>
              <a:rPr dirty="0" sz="1000" spc="140">
                <a:solidFill>
                  <a:srgbClr val="FBFBF9"/>
                </a:solidFill>
                <a:latin typeface="Times New Roman"/>
                <a:cs typeface="Times New Roman"/>
              </a:rPr>
              <a:t>ÇO</a:t>
            </a:r>
            <a:r>
              <a:rPr dirty="0" sz="1000" spc="295">
                <a:solidFill>
                  <a:srgbClr val="FBFBF9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BFBF9"/>
                </a:solidFill>
                <a:latin typeface="Times New Roman"/>
                <a:cs typeface="Times New Roman"/>
              </a:rPr>
              <a:t>D</a:t>
            </a:r>
            <a:r>
              <a:rPr dirty="0" sz="1000" spc="-150">
                <a:solidFill>
                  <a:srgbClr val="FBFBF9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BFBF9"/>
                </a:solidFill>
                <a:latin typeface="Times New Roman"/>
                <a:cs typeface="Times New Roman"/>
              </a:rPr>
              <a:t>A</a:t>
            </a:r>
            <a:r>
              <a:rPr dirty="0" sz="1000" spc="265">
                <a:solidFill>
                  <a:srgbClr val="FBFBF9"/>
                </a:solidFill>
                <a:latin typeface="Times New Roman"/>
                <a:cs typeface="Times New Roman"/>
              </a:rPr>
              <a:t> </a:t>
            </a:r>
            <a:r>
              <a:rPr dirty="0" sz="1000" spc="180">
                <a:solidFill>
                  <a:srgbClr val="FBFBF9"/>
                </a:solidFill>
                <a:latin typeface="Times New Roman"/>
                <a:cs typeface="Times New Roman"/>
              </a:rPr>
              <a:t>S</a:t>
            </a:r>
            <a:r>
              <a:rPr dirty="0" sz="1000" spc="-135">
                <a:solidFill>
                  <a:srgbClr val="FBFBF9"/>
                </a:solidFill>
                <a:latin typeface="Times New Roman"/>
                <a:cs typeface="Times New Roman"/>
              </a:rPr>
              <a:t> </a:t>
            </a:r>
            <a:r>
              <a:rPr dirty="0" sz="1000" spc="-10">
                <a:solidFill>
                  <a:srgbClr val="FBFBF9"/>
                </a:solidFill>
                <a:latin typeface="Times New Roman"/>
                <a:cs typeface="Times New Roman"/>
              </a:rPr>
              <a:t>U</a:t>
            </a:r>
            <a:r>
              <a:rPr dirty="0" sz="1000" spc="-145">
                <a:solidFill>
                  <a:srgbClr val="FBFBF9"/>
                </a:solidFill>
                <a:latin typeface="Times New Roman"/>
                <a:cs typeface="Times New Roman"/>
              </a:rPr>
              <a:t> </a:t>
            </a:r>
            <a:r>
              <a:rPr dirty="0" sz="1000" spc="50">
                <a:solidFill>
                  <a:srgbClr val="FBFBF9"/>
                </a:solidFill>
                <a:latin typeface="Times New Roman"/>
                <a:cs typeface="Times New Roman"/>
              </a:rPr>
              <a:t>B</a:t>
            </a:r>
            <a:r>
              <a:rPr dirty="0" sz="1000" spc="-150">
                <a:solidFill>
                  <a:srgbClr val="FBFBF9"/>
                </a:solidFill>
                <a:latin typeface="Times New Roman"/>
                <a:cs typeface="Times New Roman"/>
              </a:rPr>
              <a:t> </a:t>
            </a:r>
            <a:r>
              <a:rPr dirty="0" sz="1000" spc="180">
                <a:solidFill>
                  <a:srgbClr val="FBFBF9"/>
                </a:solidFill>
                <a:latin typeface="Times New Roman"/>
                <a:cs typeface="Times New Roman"/>
              </a:rPr>
              <a:t>S</a:t>
            </a:r>
            <a:r>
              <a:rPr dirty="0" sz="1000" spc="-135">
                <a:solidFill>
                  <a:srgbClr val="FBFBF9"/>
                </a:solidFill>
                <a:latin typeface="Times New Roman"/>
                <a:cs typeface="Times New Roman"/>
              </a:rPr>
              <a:t> </a:t>
            </a:r>
            <a:r>
              <a:rPr dirty="0" sz="1000" spc="75">
                <a:solidFill>
                  <a:srgbClr val="FBFBF9"/>
                </a:solidFill>
                <a:latin typeface="Times New Roman"/>
                <a:cs typeface="Times New Roman"/>
              </a:rPr>
              <a:t>CRI</a:t>
            </a:r>
            <a:r>
              <a:rPr dirty="0" sz="1000" spc="-35">
                <a:solidFill>
                  <a:srgbClr val="FBFBF9"/>
                </a:solidFill>
                <a:latin typeface="Times New Roman"/>
                <a:cs typeface="Times New Roman"/>
              </a:rPr>
              <a:t> </a:t>
            </a:r>
            <a:r>
              <a:rPr dirty="0" sz="1000" spc="100">
                <a:solidFill>
                  <a:srgbClr val="FBFBF9"/>
                </a:solidFill>
                <a:latin typeface="Times New Roman"/>
                <a:cs typeface="Times New Roman"/>
              </a:rPr>
              <a:t>ÇÃO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6343650"/>
            <a:ext cx="12192000" cy="19050"/>
          </a:xfrm>
          <a:custGeom>
            <a:avLst/>
            <a:gdLst/>
            <a:ahLst/>
            <a:cxnLst/>
            <a:rect l="l" t="t" r="r" b="b"/>
            <a:pathLst>
              <a:path w="12192000" h="19050">
                <a:moveTo>
                  <a:pt x="12192000" y="0"/>
                </a:moveTo>
                <a:lnTo>
                  <a:pt x="0" y="0"/>
                </a:lnTo>
                <a:lnTo>
                  <a:pt x="0" y="19050"/>
                </a:lnTo>
                <a:lnTo>
                  <a:pt x="12192000" y="19050"/>
                </a:lnTo>
                <a:lnTo>
                  <a:pt x="12192000" y="0"/>
                </a:lnTo>
                <a:close/>
              </a:path>
            </a:pathLst>
          </a:custGeom>
          <a:solidFill>
            <a:srgbClr val="D4993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44500" y="6477270"/>
            <a:ext cx="1053465" cy="181610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000" spc="-165">
                <a:solidFill>
                  <a:srgbClr val="F9F8F5"/>
                </a:solidFill>
                <a:latin typeface="Times New Roman"/>
                <a:cs typeface="Times New Roman"/>
              </a:rPr>
              <a:t>I</a:t>
            </a:r>
            <a:r>
              <a:rPr dirty="0" sz="1000" spc="-145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000" spc="90">
                <a:solidFill>
                  <a:srgbClr val="F9F8F5"/>
                </a:solidFill>
                <a:latin typeface="Times New Roman"/>
                <a:cs typeface="Times New Roman"/>
              </a:rPr>
              <a:t>nsurMinds</a:t>
            </a:r>
            <a:r>
              <a:rPr dirty="0" sz="1000" spc="40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000" spc="60">
                <a:solidFill>
                  <a:srgbClr val="F9F8F5"/>
                </a:solidFill>
                <a:latin typeface="Times New Roman"/>
                <a:cs typeface="Times New Roman"/>
              </a:rPr>
              <a:t>MVP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20845" y="6479999"/>
            <a:ext cx="1716405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50">
                <a:solidFill>
                  <a:srgbClr val="F9F8F5"/>
                </a:solidFill>
                <a:latin typeface="Times New Roman"/>
                <a:cs typeface="Times New Roman"/>
              </a:rPr>
              <a:t>AU</a:t>
            </a:r>
            <a:r>
              <a:rPr dirty="0" sz="1000" spc="-155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000" spc="100">
                <a:solidFill>
                  <a:srgbClr val="F9F8F5"/>
                </a:solidFill>
                <a:latin typeface="Times New Roman"/>
                <a:cs typeface="Times New Roman"/>
              </a:rPr>
              <a:t>TO</a:t>
            </a:r>
            <a:r>
              <a:rPr dirty="0" sz="1000" spc="-140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9F8F5"/>
                </a:solidFill>
                <a:latin typeface="Times New Roman"/>
                <a:cs typeface="Times New Roman"/>
              </a:rPr>
              <a:t>RI</a:t>
            </a:r>
            <a:r>
              <a:rPr dirty="0" sz="1000" spc="-70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000" spc="114">
                <a:solidFill>
                  <a:srgbClr val="F9F8F5"/>
                </a:solidFill>
                <a:latin typeface="Times New Roman"/>
                <a:cs typeface="Times New Roman"/>
              </a:rPr>
              <a:t>A</a:t>
            </a:r>
            <a:r>
              <a:rPr dirty="0" sz="550" spc="114">
                <a:solidFill>
                  <a:srgbClr val="F9F8F5"/>
                </a:solidFill>
                <a:latin typeface="Times New Roman"/>
                <a:cs typeface="Times New Roman"/>
              </a:rPr>
              <a:t>:</a:t>
            </a:r>
            <a:r>
              <a:rPr dirty="0" sz="550" spc="420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000" spc="114">
                <a:solidFill>
                  <a:srgbClr val="F9F8F5"/>
                </a:solidFill>
                <a:latin typeface="Times New Roman"/>
                <a:cs typeface="Times New Roman"/>
              </a:rPr>
              <a:t>CU</a:t>
            </a:r>
            <a:r>
              <a:rPr dirty="0" sz="1000" spc="-150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9F8F5"/>
                </a:solidFill>
                <a:latin typeface="Times New Roman"/>
                <a:cs typeface="Times New Roman"/>
              </a:rPr>
              <a:t>RI</a:t>
            </a:r>
            <a:r>
              <a:rPr dirty="0" sz="1000" spc="-70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F9F8F5"/>
                </a:solidFill>
                <a:latin typeface="Times New Roman"/>
                <a:cs typeface="Times New Roman"/>
              </a:rPr>
              <a:t>É</a:t>
            </a:r>
            <a:r>
              <a:rPr dirty="0" sz="1000" spc="250">
                <a:solidFill>
                  <a:srgbClr val="F9F8F5"/>
                </a:solidFill>
                <a:latin typeface="Times New Roman"/>
                <a:cs typeface="Times New Roman"/>
              </a:rPr>
              <a:t> </a:t>
            </a:r>
            <a:r>
              <a:rPr dirty="0" sz="1000" spc="45">
                <a:solidFill>
                  <a:srgbClr val="F9F8F5"/>
                </a:solidFill>
                <a:latin typeface="Times New Roman"/>
                <a:cs typeface="Times New Roman"/>
              </a:rPr>
              <a:t>EDGE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2026-09-29T22:14:01Z</dcterms:created>
  <dcterms:modified xsi:type="dcterms:W3CDTF">2026-09-29T22:14:01Z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2026-09-29T00:00:00Z</vt:filetime>
  </property>
  <property fmtid="{D5CDD505-2E9C-101B-9397-08002B2CF9AE}" pid="4" name="Creator">
    <vt:lpwstr>pdf-lib (https://github.com/Hopding/pdf-lib)</vt:lpwstr>
  </property>
  <property fmtid="{D5CDD505-2E9C-101B-9397-08002B2CF9AE}" pid="5" name="LastSaved">
    <vt:filetime>2026-09-29T00:00:00Z</vt:filetime>
  </property>
  <property fmtid="{D5CDD505-2E9C-101B-9397-08002B2CF9AE}" pid="6" name="Producer">
    <vt:lpwstr>pdf-lib (https://github.com/Hopding/pdf-lib)</vt:lpwstr>
  </property>
</Properties>
</file>